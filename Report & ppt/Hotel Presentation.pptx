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TT Interphases" charset="1" panose="02000503020000020004"/>
      <p:regular r:id="rId23"/>
    </p:embeddedFont>
    <p:embeddedFont>
      <p:font typeface="TT Interphases Italics" charset="1" panose="02000503020000090004"/>
      <p:regular r:id="rId24"/>
    </p:embeddedFont>
    <p:embeddedFont>
      <p:font typeface="TT Interphases Bold" charset="1" panose="02000803060000020004"/>
      <p:regular r:id="rId25"/>
    </p:embeddedFont>
    <p:embeddedFont>
      <p:font typeface="Canva Sans Bold" charset="1" panose="020B0803030501040103"/>
      <p:regular r:id="rId26"/>
    </p:embeddedFont>
    <p:embeddedFont>
      <p:font typeface="Arimo Bold" charset="1" panose="020B0704020202020204"/>
      <p:regular r:id="rId27"/>
    </p:embeddedFont>
    <p:embeddedFont>
      <p:font typeface="TT Interphases Bold Italics" charset="1" panose="020008030000000900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jpe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7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7.pn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7.pn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7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28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7.pn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29.png" Type="http://schemas.openxmlformats.org/officeDocument/2006/relationships/image"/><Relationship Id="rId12" Target="../media/image30.png" Type="http://schemas.openxmlformats.org/officeDocument/2006/relationships/image"/><Relationship Id="rId13" Target="../media/image31.svg" Type="http://schemas.openxmlformats.org/officeDocument/2006/relationships/image"/><Relationship Id="rId14" Target="../media/image3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10.png" Type="http://schemas.openxmlformats.org/officeDocument/2006/relationships/image"/><Relationship Id="rId14" Target="../media/image11.svg" Type="http://schemas.openxmlformats.org/officeDocument/2006/relationships/image"/><Relationship Id="rId15" Target="../media/image12.png" Type="http://schemas.openxmlformats.org/officeDocument/2006/relationships/image"/><Relationship Id="rId16" Target="../media/image13.svg" Type="http://schemas.openxmlformats.org/officeDocument/2006/relationships/image"/><Relationship Id="rId17" Target="../media/image14.png" Type="http://schemas.openxmlformats.org/officeDocument/2006/relationships/image"/><Relationship Id="rId18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33.png" Type="http://schemas.openxmlformats.org/officeDocument/2006/relationships/image"/><Relationship Id="rId8" Target="../media/image7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36.pn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26617">
            <a:off x="3395976" y="3190853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41392" y="587451"/>
            <a:ext cx="9122342" cy="9105756"/>
          </a:xfrm>
          <a:custGeom>
            <a:avLst/>
            <a:gdLst/>
            <a:ahLst/>
            <a:cxnLst/>
            <a:rect r="r" b="b" t="t" l="l"/>
            <a:pathLst>
              <a:path h="9105756" w="9122342">
                <a:moveTo>
                  <a:pt x="0" y="0"/>
                </a:moveTo>
                <a:lnTo>
                  <a:pt x="9122342" y="0"/>
                </a:lnTo>
                <a:lnTo>
                  <a:pt x="9122342" y="9105756"/>
                </a:lnTo>
                <a:lnTo>
                  <a:pt x="0" y="91057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157946">
            <a:off x="10971715" y="1704128"/>
            <a:ext cx="7674174" cy="2885362"/>
          </a:xfrm>
          <a:custGeom>
            <a:avLst/>
            <a:gdLst/>
            <a:ahLst/>
            <a:cxnLst/>
            <a:rect r="r" b="b" t="t" l="l"/>
            <a:pathLst>
              <a:path h="2885362" w="7674174">
                <a:moveTo>
                  <a:pt x="0" y="0"/>
                </a:moveTo>
                <a:lnTo>
                  <a:pt x="7674174" y="0"/>
                </a:lnTo>
                <a:lnTo>
                  <a:pt x="7674174" y="2885362"/>
                </a:lnTo>
                <a:lnTo>
                  <a:pt x="0" y="28853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-3298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2157946">
            <a:off x="8438712" y="4719029"/>
            <a:ext cx="7674174" cy="3837087"/>
          </a:xfrm>
          <a:custGeom>
            <a:avLst/>
            <a:gdLst/>
            <a:ahLst/>
            <a:cxnLst/>
            <a:rect r="r" b="b" t="t" l="l"/>
            <a:pathLst>
              <a:path h="3837087" w="7674174">
                <a:moveTo>
                  <a:pt x="0" y="3837087"/>
                </a:moveTo>
                <a:lnTo>
                  <a:pt x="7674174" y="3837087"/>
                </a:lnTo>
                <a:lnTo>
                  <a:pt x="7674174" y="0"/>
                </a:lnTo>
                <a:lnTo>
                  <a:pt x="0" y="0"/>
                </a:lnTo>
                <a:lnTo>
                  <a:pt x="0" y="383708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975622" y="1713388"/>
            <a:ext cx="6853883" cy="685388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176794" y="1914560"/>
            <a:ext cx="6451538" cy="645153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25000" r="0" b="-2500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-458594" y="5993565"/>
            <a:ext cx="1519526" cy="3084508"/>
          </a:xfrm>
          <a:custGeom>
            <a:avLst/>
            <a:gdLst/>
            <a:ahLst/>
            <a:cxnLst/>
            <a:rect r="r" b="b" t="t" l="l"/>
            <a:pathLst>
              <a:path h="3084508" w="1519526">
                <a:moveTo>
                  <a:pt x="0" y="0"/>
                </a:moveTo>
                <a:lnTo>
                  <a:pt x="1519526" y="0"/>
                </a:lnTo>
                <a:lnTo>
                  <a:pt x="1519526" y="3084508"/>
                </a:lnTo>
                <a:lnTo>
                  <a:pt x="0" y="30845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6818832" y="0"/>
            <a:ext cx="2071591" cy="4205152"/>
          </a:xfrm>
          <a:custGeom>
            <a:avLst/>
            <a:gdLst/>
            <a:ahLst/>
            <a:cxnLst/>
            <a:rect r="r" b="b" t="t" l="l"/>
            <a:pathLst>
              <a:path h="4205152" w="2071591">
                <a:moveTo>
                  <a:pt x="2071591" y="0"/>
                </a:moveTo>
                <a:lnTo>
                  <a:pt x="0" y="0"/>
                </a:lnTo>
                <a:lnTo>
                  <a:pt x="0" y="4205152"/>
                </a:lnTo>
                <a:lnTo>
                  <a:pt x="2071591" y="4205152"/>
                </a:lnTo>
                <a:lnTo>
                  <a:pt x="2071591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481992" y="-3498726"/>
            <a:ext cx="4793807" cy="4802539"/>
          </a:xfrm>
          <a:custGeom>
            <a:avLst/>
            <a:gdLst/>
            <a:ahLst/>
            <a:cxnLst/>
            <a:rect r="r" b="b" t="t" l="l"/>
            <a:pathLst>
              <a:path h="4802539" w="4793807">
                <a:moveTo>
                  <a:pt x="0" y="0"/>
                </a:moveTo>
                <a:lnTo>
                  <a:pt x="4793807" y="0"/>
                </a:lnTo>
                <a:lnTo>
                  <a:pt x="4793807" y="4802539"/>
                </a:lnTo>
                <a:lnTo>
                  <a:pt x="0" y="48025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108917" y="8366098"/>
            <a:ext cx="4940090" cy="4949088"/>
          </a:xfrm>
          <a:custGeom>
            <a:avLst/>
            <a:gdLst/>
            <a:ahLst/>
            <a:cxnLst/>
            <a:rect r="r" b="b" t="t" l="l"/>
            <a:pathLst>
              <a:path h="4949088" w="4940090">
                <a:moveTo>
                  <a:pt x="0" y="0"/>
                </a:moveTo>
                <a:lnTo>
                  <a:pt x="4940090" y="0"/>
                </a:lnTo>
                <a:lnTo>
                  <a:pt x="4940090" y="4949088"/>
                </a:lnTo>
                <a:lnTo>
                  <a:pt x="0" y="49490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496449" y="2218183"/>
            <a:ext cx="1647551" cy="200702"/>
          </a:xfrm>
          <a:custGeom>
            <a:avLst/>
            <a:gdLst/>
            <a:ahLst/>
            <a:cxnLst/>
            <a:rect r="r" b="b" t="t" l="l"/>
            <a:pathLst>
              <a:path h="200702" w="1647551">
                <a:moveTo>
                  <a:pt x="0" y="0"/>
                </a:moveTo>
                <a:lnTo>
                  <a:pt x="1647551" y="0"/>
                </a:lnTo>
                <a:lnTo>
                  <a:pt x="1647551" y="200701"/>
                </a:lnTo>
                <a:lnTo>
                  <a:pt x="0" y="2007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212750" y="8440510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106388" r="-103152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7894620" y="7020146"/>
            <a:ext cx="5254433" cy="641311"/>
            <a:chOff x="0" y="0"/>
            <a:chExt cx="3329743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329743" cy="406400"/>
            </a:xfrm>
            <a:custGeom>
              <a:avLst/>
              <a:gdLst/>
              <a:ahLst/>
              <a:cxnLst/>
              <a:rect r="r" b="b" t="t" l="l"/>
              <a:pathLst>
                <a:path h="406400" w="3329743">
                  <a:moveTo>
                    <a:pt x="3126543" y="0"/>
                  </a:moveTo>
                  <a:cubicBezTo>
                    <a:pt x="3238767" y="0"/>
                    <a:pt x="3329743" y="90976"/>
                    <a:pt x="3329743" y="203200"/>
                  </a:cubicBezTo>
                  <a:cubicBezTo>
                    <a:pt x="3329743" y="315424"/>
                    <a:pt x="3238767" y="406400"/>
                    <a:pt x="312654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329743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028700" y="1053061"/>
            <a:ext cx="781082" cy="781082"/>
          </a:xfrm>
          <a:custGeom>
            <a:avLst/>
            <a:gdLst/>
            <a:ahLst/>
            <a:cxnLst/>
            <a:rect r="r" b="b" t="t" l="l"/>
            <a:pathLst>
              <a:path h="781082" w="781082">
                <a:moveTo>
                  <a:pt x="0" y="0"/>
                </a:moveTo>
                <a:lnTo>
                  <a:pt x="781082" y="0"/>
                </a:lnTo>
                <a:lnTo>
                  <a:pt x="781082" y="781082"/>
                </a:lnTo>
                <a:lnTo>
                  <a:pt x="0" y="78108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927008" y="1151063"/>
            <a:ext cx="2885638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Data Mining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8294059" y="7015096"/>
            <a:ext cx="4455554" cy="58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6"/>
              </a:lnSpc>
              <a:spcBef>
                <a:spcPct val="0"/>
              </a:spcBef>
            </a:pPr>
            <a:r>
              <a:rPr lang="en-US" sz="3454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Presentation - 2026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6356587"/>
            <a:ext cx="8449717" cy="368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2497" i="true" spc="17">
                <a:solidFill>
                  <a:srgbClr val="FFFFFF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Transforming the Future Through Intelligent Technology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33641" y="2207351"/>
            <a:ext cx="5748351" cy="1890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sz="4627" b="true">
                <a:solidFill>
                  <a:srgbClr val="A94BC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</a:t>
            </a:r>
            <a:r>
              <a:rPr lang="en-US" sz="4627" b="true">
                <a:solidFill>
                  <a:srgbClr val="A94BC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redicting Hotel Booking Cancellations </a:t>
            </a:r>
          </a:p>
          <a:p>
            <a:pPr algn="l">
              <a:lnSpc>
                <a:spcPts val="1576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809782" y="4319452"/>
            <a:ext cx="7334218" cy="690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9"/>
              </a:lnSpc>
            </a:pPr>
            <a:r>
              <a:rPr lang="en-US" sz="5288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Using Python&amp; Orange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62" t="0" r="-156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9256" y="269718"/>
            <a:ext cx="3631666" cy="1451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97"/>
              </a:lnSpc>
            </a:pPr>
            <a:r>
              <a:rPr lang="en-US" sz="421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</a:t>
            </a:r>
            <a:r>
              <a:rPr lang="en-US" b="true" sz="421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Mining</a:t>
            </a:r>
          </a:p>
          <a:p>
            <a:pPr algn="ctr">
              <a:lnSpc>
                <a:spcPts val="5897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05113" y="2002445"/>
            <a:ext cx="1647551" cy="200702"/>
          </a:xfrm>
          <a:custGeom>
            <a:avLst/>
            <a:gdLst/>
            <a:ahLst/>
            <a:cxnLst/>
            <a:rect r="r" b="b" t="t" l="l"/>
            <a:pathLst>
              <a:path h="200702" w="1647551">
                <a:moveTo>
                  <a:pt x="0" y="0"/>
                </a:moveTo>
                <a:lnTo>
                  <a:pt x="1647551" y="0"/>
                </a:lnTo>
                <a:lnTo>
                  <a:pt x="1647551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140929" y="5899915"/>
            <a:ext cx="3887890" cy="1543050"/>
            <a:chOff x="0" y="0"/>
            <a:chExt cx="1023971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3971" cy="406400"/>
            </a:xfrm>
            <a:custGeom>
              <a:avLst/>
              <a:gdLst/>
              <a:ahLst/>
              <a:cxnLst/>
              <a:rect r="r" b="b" t="t" l="l"/>
              <a:pathLst>
                <a:path h="406400" w="1023971">
                  <a:moveTo>
                    <a:pt x="820771" y="0"/>
                  </a:moveTo>
                  <a:cubicBezTo>
                    <a:pt x="932995" y="0"/>
                    <a:pt x="1023971" y="90976"/>
                    <a:pt x="1023971" y="203200"/>
                  </a:cubicBezTo>
                  <a:cubicBezTo>
                    <a:pt x="1023971" y="315424"/>
                    <a:pt x="932995" y="406400"/>
                    <a:pt x="82077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023971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4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062146" y="3752850"/>
            <a:ext cx="3751737" cy="1543050"/>
            <a:chOff x="0" y="0"/>
            <a:chExt cx="988112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88112" cy="406400"/>
            </a:xfrm>
            <a:custGeom>
              <a:avLst/>
              <a:gdLst/>
              <a:ahLst/>
              <a:cxnLst/>
              <a:rect r="r" b="b" t="t" l="l"/>
              <a:pathLst>
                <a:path h="406400" w="988112">
                  <a:moveTo>
                    <a:pt x="784912" y="0"/>
                  </a:moveTo>
                  <a:cubicBezTo>
                    <a:pt x="897136" y="0"/>
                    <a:pt x="988112" y="90976"/>
                    <a:pt x="988112" y="203200"/>
                  </a:cubicBezTo>
                  <a:cubicBezTo>
                    <a:pt x="988112" y="315424"/>
                    <a:pt x="897136" y="406400"/>
                    <a:pt x="784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988112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4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765797" y="3752850"/>
            <a:ext cx="3797121" cy="1543050"/>
            <a:chOff x="0" y="0"/>
            <a:chExt cx="1000065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0065" cy="406400"/>
            </a:xfrm>
            <a:custGeom>
              <a:avLst/>
              <a:gdLst/>
              <a:ahLst/>
              <a:cxnLst/>
              <a:rect r="r" b="b" t="t" l="l"/>
              <a:pathLst>
                <a:path h="406400" w="1000065">
                  <a:moveTo>
                    <a:pt x="796865" y="0"/>
                  </a:moveTo>
                  <a:cubicBezTo>
                    <a:pt x="909089" y="0"/>
                    <a:pt x="1000065" y="90976"/>
                    <a:pt x="1000065" y="203200"/>
                  </a:cubicBezTo>
                  <a:cubicBezTo>
                    <a:pt x="1000065" y="315424"/>
                    <a:pt x="909089" y="406400"/>
                    <a:pt x="79686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000065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4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367991" y="3752850"/>
            <a:ext cx="3902506" cy="1543050"/>
            <a:chOff x="0" y="0"/>
            <a:chExt cx="1027821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7820" cy="406400"/>
            </a:xfrm>
            <a:custGeom>
              <a:avLst/>
              <a:gdLst/>
              <a:ahLst/>
              <a:cxnLst/>
              <a:rect r="r" b="b" t="t" l="l"/>
              <a:pathLst>
                <a:path h="406400" w="1027820">
                  <a:moveTo>
                    <a:pt x="824620" y="0"/>
                  </a:moveTo>
                  <a:cubicBezTo>
                    <a:pt x="936845" y="0"/>
                    <a:pt x="1027820" y="90976"/>
                    <a:pt x="1027820" y="203200"/>
                  </a:cubicBezTo>
                  <a:cubicBezTo>
                    <a:pt x="1027820" y="315424"/>
                    <a:pt x="936845" y="406400"/>
                    <a:pt x="82462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027821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4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854545" y="5899915"/>
            <a:ext cx="4004899" cy="1543050"/>
            <a:chOff x="0" y="0"/>
            <a:chExt cx="1054788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54788" cy="406400"/>
            </a:xfrm>
            <a:custGeom>
              <a:avLst/>
              <a:gdLst/>
              <a:ahLst/>
              <a:cxnLst/>
              <a:rect r="r" b="b" t="t" l="l"/>
              <a:pathLst>
                <a:path h="406400" w="1054788">
                  <a:moveTo>
                    <a:pt x="851588" y="0"/>
                  </a:moveTo>
                  <a:cubicBezTo>
                    <a:pt x="963812" y="0"/>
                    <a:pt x="1054788" y="90976"/>
                    <a:pt x="1054788" y="203200"/>
                  </a:cubicBezTo>
                  <a:cubicBezTo>
                    <a:pt x="1054788" y="315424"/>
                    <a:pt x="963812" y="406400"/>
                    <a:pt x="85158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054788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45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02562" y="1851174"/>
            <a:ext cx="5688136" cy="1543050"/>
            <a:chOff x="0" y="0"/>
            <a:chExt cx="1498110" cy="406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98110" cy="406400"/>
            </a:xfrm>
            <a:custGeom>
              <a:avLst/>
              <a:gdLst/>
              <a:ahLst/>
              <a:cxnLst/>
              <a:rect r="r" b="b" t="t" l="l"/>
              <a:pathLst>
                <a:path h="406400" w="1498110">
                  <a:moveTo>
                    <a:pt x="129491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294910" y="406400"/>
                  </a:lnTo>
                  <a:lnTo>
                    <a:pt x="1498110" y="203200"/>
                  </a:lnTo>
                  <a:lnTo>
                    <a:pt x="129491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38381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rtl="true">
                <a:lnSpc>
                  <a:spcPts val="2745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02562" y="2165047"/>
            <a:ext cx="5688136" cy="723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5"/>
              </a:lnSpc>
              <a:spcBef>
                <a:spcPct val="0"/>
              </a:spcBef>
            </a:pPr>
            <a:r>
              <a:rPr lang="en-US" sz="4512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Project Team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19478" y="4175726"/>
            <a:ext cx="3399532" cy="44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  <a:spcBef>
                <a:spcPct val="0"/>
              </a:spcBef>
            </a:pPr>
            <a:r>
              <a:rPr lang="en-US" b="true" sz="274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Sh</a:t>
            </a:r>
            <a:r>
              <a:rPr lang="en-US" b="true" sz="274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ahinaz Abdelawad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099922" y="6405709"/>
            <a:ext cx="3438504" cy="47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4"/>
              </a:lnSpc>
              <a:spcBef>
                <a:spcPct val="0"/>
              </a:spcBef>
            </a:pPr>
            <a:r>
              <a:rPr lang="en-US" b="true" sz="2965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Sh</a:t>
            </a:r>
            <a:r>
              <a:rPr lang="en-US" b="true" sz="2965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aimaa Mohamed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07000" y="6405709"/>
            <a:ext cx="3386004" cy="46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1"/>
              </a:lnSpc>
              <a:spcBef>
                <a:spcPct val="0"/>
              </a:spcBef>
            </a:pPr>
            <a:r>
              <a:rPr lang="en-US" b="true" sz="2932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Sh</a:t>
            </a:r>
            <a:r>
              <a:rPr lang="en-US" b="true" sz="2932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ima Ibrahim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765797" y="4254926"/>
            <a:ext cx="3644511" cy="490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2"/>
              </a:lnSpc>
              <a:spcBef>
                <a:spcPct val="0"/>
              </a:spcBef>
            </a:pPr>
            <a:r>
              <a:rPr lang="en-US" b="true" sz="3048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Sh</a:t>
            </a:r>
            <a:r>
              <a:rPr lang="en-US" b="true" sz="3048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ahd najih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363019" y="4293650"/>
            <a:ext cx="3554227" cy="479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4"/>
              </a:lnSpc>
              <a:spcBef>
                <a:spcPct val="0"/>
              </a:spcBef>
            </a:pPr>
            <a:r>
              <a:rPr lang="en-US" b="true" sz="2972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Safa</a:t>
            </a:r>
            <a:r>
              <a:rPr lang="en-US" b="true" sz="2972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 Samy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883" y="-6279084"/>
            <a:ext cx="8862696" cy="8878839"/>
          </a:xfrm>
          <a:custGeom>
            <a:avLst/>
            <a:gdLst/>
            <a:ahLst/>
            <a:cxnLst/>
            <a:rect r="r" b="b" t="t" l="l"/>
            <a:pathLst>
              <a:path h="8878839" w="8862696">
                <a:moveTo>
                  <a:pt x="0" y="0"/>
                </a:moveTo>
                <a:lnTo>
                  <a:pt x="8862696" y="0"/>
                </a:lnTo>
                <a:lnTo>
                  <a:pt x="8862696" y="8878839"/>
                </a:lnTo>
                <a:lnTo>
                  <a:pt x="0" y="88788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981365">
            <a:off x="3811636" y="3648079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43760">
            <a:off x="12792945" y="477055"/>
            <a:ext cx="7654856" cy="7992952"/>
          </a:xfrm>
          <a:custGeom>
            <a:avLst/>
            <a:gdLst/>
            <a:ahLst/>
            <a:cxnLst/>
            <a:rect r="r" b="b" t="t" l="l"/>
            <a:pathLst>
              <a:path h="7992952" w="7654856">
                <a:moveTo>
                  <a:pt x="0" y="0"/>
                </a:moveTo>
                <a:lnTo>
                  <a:pt x="7654855" y="0"/>
                </a:lnTo>
                <a:lnTo>
                  <a:pt x="7654855" y="7992952"/>
                </a:lnTo>
                <a:lnTo>
                  <a:pt x="0" y="79929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7187372" y="6347008"/>
            <a:ext cx="1519526" cy="3084508"/>
          </a:xfrm>
          <a:custGeom>
            <a:avLst/>
            <a:gdLst/>
            <a:ahLst/>
            <a:cxnLst/>
            <a:rect r="r" b="b" t="t" l="l"/>
            <a:pathLst>
              <a:path h="3084508" w="1519526">
                <a:moveTo>
                  <a:pt x="1519526" y="3084508"/>
                </a:moveTo>
                <a:lnTo>
                  <a:pt x="0" y="3084508"/>
                </a:lnTo>
                <a:lnTo>
                  <a:pt x="0" y="0"/>
                </a:lnTo>
                <a:lnTo>
                  <a:pt x="1519526" y="0"/>
                </a:lnTo>
                <a:lnTo>
                  <a:pt x="1519526" y="3084508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5400000">
            <a:off x="7345876" y="8820306"/>
            <a:ext cx="1186914" cy="2409334"/>
          </a:xfrm>
          <a:custGeom>
            <a:avLst/>
            <a:gdLst/>
            <a:ahLst/>
            <a:cxnLst/>
            <a:rect r="r" b="b" t="t" l="l"/>
            <a:pathLst>
              <a:path h="2409334" w="1186914">
                <a:moveTo>
                  <a:pt x="1186914" y="0"/>
                </a:moveTo>
                <a:lnTo>
                  <a:pt x="0" y="0"/>
                </a:lnTo>
                <a:lnTo>
                  <a:pt x="0" y="2409334"/>
                </a:lnTo>
                <a:lnTo>
                  <a:pt x="1186914" y="2409334"/>
                </a:lnTo>
                <a:lnTo>
                  <a:pt x="1186914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14578" y="328361"/>
            <a:ext cx="6880942" cy="1534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899"/>
              </a:lnSpc>
            </a:pPr>
            <a:r>
              <a:rPr lang="en-US" sz="6082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</a:t>
            </a:r>
            <a:r>
              <a:rPr lang="en-US" sz="6082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roblem Statement</a:t>
            </a:r>
          </a:p>
          <a:p>
            <a:pPr algn="r">
              <a:lnSpc>
                <a:spcPts val="58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963240"/>
            <a:ext cx="13249051" cy="4468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53"/>
              </a:lnSpc>
            </a:pPr>
            <a:r>
              <a:rPr lang="en-US" sz="357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  </a:t>
            </a:r>
            <a:r>
              <a:rPr lang="en-US" sz="357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Why is it important?                                                                                       </a:t>
            </a:r>
          </a:p>
          <a:p>
            <a:pPr algn="r">
              <a:lnSpc>
                <a:spcPts val="4653"/>
              </a:lnSpc>
            </a:pPr>
            <a:r>
              <a:rPr lang="en-US" sz="357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                                                                                         </a:t>
            </a:r>
          </a:p>
          <a:p>
            <a:pPr algn="r" marL="772799" indent="-386399" lvl="1">
              <a:lnSpc>
                <a:spcPts val="4653"/>
              </a:lnSpc>
              <a:buFont typeface="Arial"/>
              <a:buChar char="•"/>
            </a:pPr>
            <a:r>
              <a:rPr lang="en-US" sz="357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Early prediction allows hotels to:                                                                 </a:t>
            </a:r>
          </a:p>
          <a:p>
            <a:pPr algn="r" marL="718999" indent="-359499" lvl="1">
              <a:lnSpc>
                <a:spcPts val="4329"/>
              </a:lnSpc>
              <a:buFont typeface="Arial"/>
              <a:buChar char="•"/>
            </a:pPr>
            <a:r>
              <a:rPr lang="en-US" sz="333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Optimize revenue management                                                                        </a:t>
            </a:r>
          </a:p>
          <a:p>
            <a:pPr algn="r" marL="718999" indent="-359499" lvl="1">
              <a:lnSpc>
                <a:spcPts val="4329"/>
              </a:lnSpc>
              <a:buFont typeface="Arial"/>
              <a:buChar char="•"/>
            </a:pPr>
            <a:r>
              <a:rPr lang="en-US" sz="333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Reduce no-shows and lost opportunities                                                    </a:t>
            </a:r>
          </a:p>
          <a:p>
            <a:pPr algn="r" marL="718999" indent="-359499" lvl="1">
              <a:lnSpc>
                <a:spcPts val="4329"/>
              </a:lnSpc>
              <a:buFont typeface="Arial"/>
              <a:buChar char="•"/>
            </a:pPr>
            <a:r>
              <a:rPr lang="en-US" sz="333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Apply targeted retention strategies (discounts, reminders)                 </a:t>
            </a:r>
          </a:p>
          <a:p>
            <a:pPr algn="r" marL="718999" indent="-359499" lvl="1">
              <a:lnSpc>
                <a:spcPts val="4329"/>
              </a:lnSpc>
              <a:buFont typeface="Arial"/>
              <a:buChar char="•"/>
            </a:pPr>
            <a:r>
              <a:rPr lang="en-US" sz="333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Improve customer satisfaction and resource planning                               </a:t>
            </a:r>
          </a:p>
          <a:p>
            <a:pPr algn="r">
              <a:lnSpc>
                <a:spcPts val="432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314578" y="3055166"/>
            <a:ext cx="9182455" cy="147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10"/>
              </a:lnSpc>
            </a:pPr>
            <a:r>
              <a:rPr lang="en-US" b="true" sz="30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High hotel booking cancellation rates (up to ~37% in the dataset) lead to revenue loss, inefficient room allocation, overbooking issues, and increased operational costs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497033" y="9186246"/>
            <a:ext cx="4726694" cy="490540"/>
            <a:chOff x="0" y="0"/>
            <a:chExt cx="3915949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15949" cy="406400"/>
            </a:xfrm>
            <a:custGeom>
              <a:avLst/>
              <a:gdLst/>
              <a:ahLst/>
              <a:cxnLst/>
              <a:rect r="r" b="b" t="t" l="l"/>
              <a:pathLst>
                <a:path h="406400" w="3915949">
                  <a:moveTo>
                    <a:pt x="3712749" y="0"/>
                  </a:moveTo>
                  <a:cubicBezTo>
                    <a:pt x="3824973" y="0"/>
                    <a:pt x="3915949" y="90976"/>
                    <a:pt x="3915949" y="203200"/>
                  </a:cubicBezTo>
                  <a:cubicBezTo>
                    <a:pt x="3915949" y="315424"/>
                    <a:pt x="3824973" y="406400"/>
                    <a:pt x="37127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3915949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5403931" y="6246657"/>
            <a:ext cx="1647551" cy="200702"/>
          </a:xfrm>
          <a:custGeom>
            <a:avLst/>
            <a:gdLst/>
            <a:ahLst/>
            <a:cxnLst/>
            <a:rect r="r" b="b" t="t" l="l"/>
            <a:pathLst>
              <a:path h="200702" w="1647551">
                <a:moveTo>
                  <a:pt x="0" y="0"/>
                </a:moveTo>
                <a:lnTo>
                  <a:pt x="1647551" y="0"/>
                </a:lnTo>
                <a:lnTo>
                  <a:pt x="1647551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610000">
            <a:off x="5125423" y="2814457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0" y="0"/>
                </a:moveTo>
                <a:lnTo>
                  <a:pt x="20299770" y="0"/>
                </a:lnTo>
                <a:lnTo>
                  <a:pt x="20299770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396904" y="8737833"/>
            <a:ext cx="4793807" cy="4802539"/>
          </a:xfrm>
          <a:custGeom>
            <a:avLst/>
            <a:gdLst/>
            <a:ahLst/>
            <a:cxnLst/>
            <a:rect r="r" b="b" t="t" l="l"/>
            <a:pathLst>
              <a:path h="4802539" w="4793807">
                <a:moveTo>
                  <a:pt x="4793808" y="0"/>
                </a:moveTo>
                <a:lnTo>
                  <a:pt x="0" y="0"/>
                </a:lnTo>
                <a:lnTo>
                  <a:pt x="0" y="4802539"/>
                </a:lnTo>
                <a:lnTo>
                  <a:pt x="4793808" y="4802539"/>
                </a:lnTo>
                <a:lnTo>
                  <a:pt x="479380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6421490" y="-1245372"/>
            <a:ext cx="1675621" cy="3401366"/>
          </a:xfrm>
          <a:custGeom>
            <a:avLst/>
            <a:gdLst/>
            <a:ahLst/>
            <a:cxnLst/>
            <a:rect r="r" b="b" t="t" l="l"/>
            <a:pathLst>
              <a:path h="3401366" w="1675621">
                <a:moveTo>
                  <a:pt x="0" y="0"/>
                </a:moveTo>
                <a:lnTo>
                  <a:pt x="1675620" y="0"/>
                </a:lnTo>
                <a:lnTo>
                  <a:pt x="1675620" y="3401367"/>
                </a:lnTo>
                <a:lnTo>
                  <a:pt x="0" y="34013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53688"/>
            <a:ext cx="18288000" cy="10233312"/>
          </a:xfrm>
          <a:custGeom>
            <a:avLst/>
            <a:gdLst/>
            <a:ahLst/>
            <a:cxnLst/>
            <a:rect r="r" b="b" t="t" l="l"/>
            <a:pathLst>
              <a:path h="10233312" w="18288000">
                <a:moveTo>
                  <a:pt x="0" y="0"/>
                </a:moveTo>
                <a:lnTo>
                  <a:pt x="18288000" y="0"/>
                </a:lnTo>
                <a:lnTo>
                  <a:pt x="18288000" y="10233312"/>
                </a:lnTo>
                <a:lnTo>
                  <a:pt x="0" y="102333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62" r="0" b="-262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2607619">
            <a:off x="-7108142" y="3901405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20299770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0" y="6754287"/>
                </a:lnTo>
                <a:lnTo>
                  <a:pt x="2029977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610000">
            <a:off x="5155679" y="3480094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396904" y="8737833"/>
            <a:ext cx="4793807" cy="4802539"/>
          </a:xfrm>
          <a:custGeom>
            <a:avLst/>
            <a:gdLst/>
            <a:ahLst/>
            <a:cxnLst/>
            <a:rect r="r" b="b" t="t" l="l"/>
            <a:pathLst>
              <a:path h="4802539" w="4793807">
                <a:moveTo>
                  <a:pt x="4793808" y="0"/>
                </a:moveTo>
                <a:lnTo>
                  <a:pt x="0" y="0"/>
                </a:lnTo>
                <a:lnTo>
                  <a:pt x="0" y="4802539"/>
                </a:lnTo>
                <a:lnTo>
                  <a:pt x="4793808" y="4802539"/>
                </a:lnTo>
                <a:lnTo>
                  <a:pt x="479380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91096" y="8737833"/>
            <a:ext cx="4793807" cy="4802539"/>
          </a:xfrm>
          <a:custGeom>
            <a:avLst/>
            <a:gdLst/>
            <a:ahLst/>
            <a:cxnLst/>
            <a:rect r="r" b="b" t="t" l="l"/>
            <a:pathLst>
              <a:path h="4802539" w="4793807">
                <a:moveTo>
                  <a:pt x="0" y="0"/>
                </a:moveTo>
                <a:lnTo>
                  <a:pt x="4793808" y="0"/>
                </a:lnTo>
                <a:lnTo>
                  <a:pt x="4793808" y="4802539"/>
                </a:lnTo>
                <a:lnTo>
                  <a:pt x="0" y="4802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7055059" y="1028700"/>
            <a:ext cx="1675621" cy="3401366"/>
          </a:xfrm>
          <a:custGeom>
            <a:avLst/>
            <a:gdLst/>
            <a:ahLst/>
            <a:cxnLst/>
            <a:rect r="r" b="b" t="t" l="l"/>
            <a:pathLst>
              <a:path h="3401366" w="1675621">
                <a:moveTo>
                  <a:pt x="1675621" y="0"/>
                </a:moveTo>
                <a:lnTo>
                  <a:pt x="0" y="0"/>
                </a:lnTo>
                <a:lnTo>
                  <a:pt x="0" y="3401366"/>
                </a:lnTo>
                <a:lnTo>
                  <a:pt x="1675621" y="3401366"/>
                </a:lnTo>
                <a:lnTo>
                  <a:pt x="1675621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46921" y="1028700"/>
            <a:ext cx="1675621" cy="3401366"/>
          </a:xfrm>
          <a:custGeom>
            <a:avLst/>
            <a:gdLst/>
            <a:ahLst/>
            <a:cxnLst/>
            <a:rect r="r" b="b" t="t" l="l"/>
            <a:pathLst>
              <a:path h="3401366" w="1675621">
                <a:moveTo>
                  <a:pt x="0" y="0"/>
                </a:moveTo>
                <a:lnTo>
                  <a:pt x="1675621" y="0"/>
                </a:lnTo>
                <a:lnTo>
                  <a:pt x="1675621" y="3401366"/>
                </a:lnTo>
                <a:lnTo>
                  <a:pt x="0" y="34013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771789" y="4048347"/>
            <a:ext cx="2980348" cy="5847489"/>
            <a:chOff x="0" y="0"/>
            <a:chExt cx="784948" cy="15400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4948" cy="1540079"/>
            </a:xfrm>
            <a:custGeom>
              <a:avLst/>
              <a:gdLst/>
              <a:ahLst/>
              <a:cxnLst/>
              <a:rect r="r" b="b" t="t" l="l"/>
              <a:pathLst>
                <a:path h="1540079" w="784948">
                  <a:moveTo>
                    <a:pt x="75332" y="0"/>
                  </a:moveTo>
                  <a:lnTo>
                    <a:pt x="709616" y="0"/>
                  </a:lnTo>
                  <a:cubicBezTo>
                    <a:pt x="729595" y="0"/>
                    <a:pt x="748756" y="7937"/>
                    <a:pt x="762883" y="22064"/>
                  </a:cubicBezTo>
                  <a:cubicBezTo>
                    <a:pt x="777011" y="36192"/>
                    <a:pt x="784948" y="55353"/>
                    <a:pt x="784948" y="75332"/>
                  </a:cubicBezTo>
                  <a:lnTo>
                    <a:pt x="784948" y="1464747"/>
                  </a:lnTo>
                  <a:cubicBezTo>
                    <a:pt x="784948" y="1484727"/>
                    <a:pt x="777011" y="1503888"/>
                    <a:pt x="762883" y="1518015"/>
                  </a:cubicBezTo>
                  <a:cubicBezTo>
                    <a:pt x="748756" y="1532143"/>
                    <a:pt x="729595" y="1540079"/>
                    <a:pt x="709616" y="1540079"/>
                  </a:cubicBezTo>
                  <a:lnTo>
                    <a:pt x="75332" y="1540079"/>
                  </a:lnTo>
                  <a:cubicBezTo>
                    <a:pt x="55353" y="1540079"/>
                    <a:pt x="36192" y="1532143"/>
                    <a:pt x="22064" y="1518015"/>
                  </a:cubicBezTo>
                  <a:cubicBezTo>
                    <a:pt x="7937" y="1503888"/>
                    <a:pt x="0" y="1484727"/>
                    <a:pt x="0" y="1464747"/>
                  </a:cubicBezTo>
                  <a:lnTo>
                    <a:pt x="0" y="75332"/>
                  </a:lnTo>
                  <a:cubicBezTo>
                    <a:pt x="0" y="55353"/>
                    <a:pt x="7937" y="36192"/>
                    <a:pt x="22064" y="22064"/>
                  </a:cubicBezTo>
                  <a:cubicBezTo>
                    <a:pt x="36192" y="7937"/>
                    <a:pt x="55353" y="0"/>
                    <a:pt x="7533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784948" cy="1597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714162" y="4165778"/>
            <a:ext cx="2919836" cy="5736808"/>
            <a:chOff x="0" y="0"/>
            <a:chExt cx="769010" cy="15109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9010" cy="1510929"/>
            </a:xfrm>
            <a:custGeom>
              <a:avLst/>
              <a:gdLst/>
              <a:ahLst/>
              <a:cxnLst/>
              <a:rect r="r" b="b" t="t" l="l"/>
              <a:pathLst>
                <a:path h="1510929" w="769010">
                  <a:moveTo>
                    <a:pt x="76893" y="0"/>
                  </a:moveTo>
                  <a:lnTo>
                    <a:pt x="692117" y="0"/>
                  </a:lnTo>
                  <a:cubicBezTo>
                    <a:pt x="734584" y="0"/>
                    <a:pt x="769010" y="34426"/>
                    <a:pt x="769010" y="76893"/>
                  </a:cubicBezTo>
                  <a:lnTo>
                    <a:pt x="769010" y="1434036"/>
                  </a:lnTo>
                  <a:cubicBezTo>
                    <a:pt x="769010" y="1454429"/>
                    <a:pt x="760909" y="1473987"/>
                    <a:pt x="746489" y="1488407"/>
                  </a:cubicBezTo>
                  <a:cubicBezTo>
                    <a:pt x="732069" y="1502828"/>
                    <a:pt x="712510" y="1510929"/>
                    <a:pt x="692117" y="1510929"/>
                  </a:cubicBezTo>
                  <a:lnTo>
                    <a:pt x="76893" y="1510929"/>
                  </a:lnTo>
                  <a:cubicBezTo>
                    <a:pt x="56500" y="1510929"/>
                    <a:pt x="36942" y="1502828"/>
                    <a:pt x="22522" y="1488407"/>
                  </a:cubicBezTo>
                  <a:cubicBezTo>
                    <a:pt x="8101" y="1473987"/>
                    <a:pt x="0" y="1454429"/>
                    <a:pt x="0" y="1434036"/>
                  </a:cubicBezTo>
                  <a:lnTo>
                    <a:pt x="0" y="76893"/>
                  </a:lnTo>
                  <a:cubicBezTo>
                    <a:pt x="0" y="56500"/>
                    <a:pt x="8101" y="36942"/>
                    <a:pt x="22522" y="22522"/>
                  </a:cubicBezTo>
                  <a:cubicBezTo>
                    <a:pt x="36942" y="8101"/>
                    <a:pt x="56500" y="0"/>
                    <a:pt x="768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69010" cy="1568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005662" y="4165778"/>
            <a:ext cx="2919836" cy="5736808"/>
            <a:chOff x="0" y="0"/>
            <a:chExt cx="769010" cy="1510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9010" cy="1510929"/>
            </a:xfrm>
            <a:custGeom>
              <a:avLst/>
              <a:gdLst/>
              <a:ahLst/>
              <a:cxnLst/>
              <a:rect r="r" b="b" t="t" l="l"/>
              <a:pathLst>
                <a:path h="1510929" w="769010">
                  <a:moveTo>
                    <a:pt x="76893" y="0"/>
                  </a:moveTo>
                  <a:lnTo>
                    <a:pt x="692117" y="0"/>
                  </a:lnTo>
                  <a:cubicBezTo>
                    <a:pt x="734584" y="0"/>
                    <a:pt x="769010" y="34426"/>
                    <a:pt x="769010" y="76893"/>
                  </a:cubicBezTo>
                  <a:lnTo>
                    <a:pt x="769010" y="1434036"/>
                  </a:lnTo>
                  <a:cubicBezTo>
                    <a:pt x="769010" y="1454429"/>
                    <a:pt x="760909" y="1473987"/>
                    <a:pt x="746489" y="1488407"/>
                  </a:cubicBezTo>
                  <a:cubicBezTo>
                    <a:pt x="732069" y="1502828"/>
                    <a:pt x="712510" y="1510929"/>
                    <a:pt x="692117" y="1510929"/>
                  </a:cubicBezTo>
                  <a:lnTo>
                    <a:pt x="76893" y="1510929"/>
                  </a:lnTo>
                  <a:cubicBezTo>
                    <a:pt x="56500" y="1510929"/>
                    <a:pt x="36942" y="1502828"/>
                    <a:pt x="22522" y="1488407"/>
                  </a:cubicBezTo>
                  <a:cubicBezTo>
                    <a:pt x="8101" y="1473987"/>
                    <a:pt x="0" y="1454429"/>
                    <a:pt x="0" y="1434036"/>
                  </a:cubicBezTo>
                  <a:lnTo>
                    <a:pt x="0" y="76893"/>
                  </a:lnTo>
                  <a:cubicBezTo>
                    <a:pt x="0" y="56500"/>
                    <a:pt x="8101" y="36942"/>
                    <a:pt x="22522" y="22522"/>
                  </a:cubicBezTo>
                  <a:cubicBezTo>
                    <a:pt x="36942" y="8101"/>
                    <a:pt x="56500" y="0"/>
                    <a:pt x="768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769010" cy="1568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360463" y="843173"/>
            <a:ext cx="4726694" cy="656196"/>
            <a:chOff x="0" y="0"/>
            <a:chExt cx="3915949" cy="54364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15949" cy="543642"/>
            </a:xfrm>
            <a:custGeom>
              <a:avLst/>
              <a:gdLst/>
              <a:ahLst/>
              <a:cxnLst/>
              <a:rect r="r" b="b" t="t" l="l"/>
              <a:pathLst>
                <a:path h="543642" w="3915949">
                  <a:moveTo>
                    <a:pt x="3712749" y="0"/>
                  </a:moveTo>
                  <a:cubicBezTo>
                    <a:pt x="3824973" y="0"/>
                    <a:pt x="3915949" y="121698"/>
                    <a:pt x="3915949" y="271821"/>
                  </a:cubicBezTo>
                  <a:cubicBezTo>
                    <a:pt x="3915949" y="421944"/>
                    <a:pt x="3824973" y="543642"/>
                    <a:pt x="3712749" y="543642"/>
                  </a:cubicBezTo>
                  <a:lnTo>
                    <a:pt x="203200" y="543642"/>
                  </a:lnTo>
                  <a:cubicBezTo>
                    <a:pt x="90976" y="543642"/>
                    <a:pt x="0" y="421944"/>
                    <a:pt x="0" y="271821"/>
                  </a:cubicBezTo>
                  <a:cubicBezTo>
                    <a:pt x="0" y="121698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915949" cy="600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4754171" y="1192771"/>
            <a:ext cx="1647551" cy="200702"/>
          </a:xfrm>
          <a:custGeom>
            <a:avLst/>
            <a:gdLst/>
            <a:ahLst/>
            <a:cxnLst/>
            <a:rect r="r" b="b" t="t" l="l"/>
            <a:pathLst>
              <a:path h="200702" w="1647551">
                <a:moveTo>
                  <a:pt x="0" y="0"/>
                </a:moveTo>
                <a:lnTo>
                  <a:pt x="1647550" y="0"/>
                </a:lnTo>
                <a:lnTo>
                  <a:pt x="1647550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886279" y="1192771"/>
            <a:ext cx="1647551" cy="200702"/>
          </a:xfrm>
          <a:custGeom>
            <a:avLst/>
            <a:gdLst/>
            <a:ahLst/>
            <a:cxnLst/>
            <a:rect r="r" b="b" t="t" l="l"/>
            <a:pathLst>
              <a:path h="200702" w="1647551">
                <a:moveTo>
                  <a:pt x="0" y="0"/>
                </a:moveTo>
                <a:lnTo>
                  <a:pt x="1647550" y="0"/>
                </a:lnTo>
                <a:lnTo>
                  <a:pt x="1647550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859071" y="4714320"/>
            <a:ext cx="2805784" cy="5088077"/>
          </a:xfrm>
          <a:custGeom>
            <a:avLst/>
            <a:gdLst/>
            <a:ahLst/>
            <a:cxnLst/>
            <a:rect r="r" b="b" t="t" l="l"/>
            <a:pathLst>
              <a:path h="5088077" w="2805784">
                <a:moveTo>
                  <a:pt x="0" y="0"/>
                </a:moveTo>
                <a:lnTo>
                  <a:pt x="2805784" y="0"/>
                </a:lnTo>
                <a:lnTo>
                  <a:pt x="2805784" y="5088078"/>
                </a:lnTo>
                <a:lnTo>
                  <a:pt x="0" y="508807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1301" r="0" b="-36129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7010277" y="947948"/>
            <a:ext cx="3427068" cy="995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4"/>
              </a:lnSpc>
            </a:pPr>
            <a:r>
              <a:rPr lang="en-US" sz="4014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Datas</a:t>
            </a:r>
            <a:r>
              <a:rPr lang="en-US" sz="4014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et used</a:t>
            </a:r>
          </a:p>
          <a:p>
            <a:pPr algn="ctr">
              <a:lnSpc>
                <a:spcPts val="3894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4201978" y="4165778"/>
            <a:ext cx="2119971" cy="74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3"/>
              </a:lnSpc>
            </a:pPr>
            <a:r>
              <a:rPr lang="en-US" sz="3003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Features</a:t>
            </a:r>
          </a:p>
          <a:p>
            <a:pPr algn="ctr">
              <a:lnSpc>
                <a:spcPts val="2913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8002363" y="4518359"/>
            <a:ext cx="2283274" cy="62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9"/>
              </a:lnSpc>
            </a:pPr>
            <a:r>
              <a:rPr lang="en-US" sz="2524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Target variable</a:t>
            </a:r>
          </a:p>
          <a:p>
            <a:pPr algn="ctr">
              <a:lnSpc>
                <a:spcPts val="2449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4417306" y="2031648"/>
            <a:ext cx="9132488" cy="532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0"/>
              </a:lnSpc>
            </a:pPr>
            <a:r>
              <a:rPr lang="en-US" sz="4484" b="true">
                <a:solidFill>
                  <a:srgbClr val="A94BC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Ho</a:t>
            </a:r>
            <a:r>
              <a:rPr lang="en-US" b="true" sz="4484">
                <a:solidFill>
                  <a:srgbClr val="A94BC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tel Booking Demand Dataset</a:t>
            </a:r>
          </a:p>
          <a:p>
            <a:pPr algn="ctr">
              <a:lnSpc>
                <a:spcPts val="72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658469" y="2911653"/>
            <a:ext cx="15031223" cy="81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4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Lorem ipsum dolor sit amet, co</a:t>
            </a:r>
            <a:r>
              <a:rPr lang="en-US" sz="24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nsectetur adipiscing elit. Quisque pellentesque ex ultrices ex consequat varius. Nullam imperdiet at odio eget gravida. Praesent nec ipsum elementum, tincidunt dui bibendum.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852434" y="5756782"/>
            <a:ext cx="2643294" cy="2172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199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is_canceled:</a:t>
            </a:r>
          </a:p>
          <a:p>
            <a:pPr algn="ctr">
              <a:lnSpc>
                <a:spcPts val="2859"/>
              </a:lnSpc>
            </a:pPr>
            <a:r>
              <a:rPr lang="en-US" sz="2199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(0 = No</a:t>
            </a:r>
            <a:r>
              <a:rPr lang="en-US" b="true" sz="2199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 Canceled, </a:t>
            </a:r>
          </a:p>
          <a:p>
            <a:pPr algn="ctr">
              <a:lnSpc>
                <a:spcPts val="2859"/>
              </a:lnSpc>
            </a:pPr>
            <a:r>
              <a:rPr lang="en-US" b="true" sz="2199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1 = Canceled) </a:t>
            </a:r>
          </a:p>
          <a:p>
            <a:pPr algn="ctr">
              <a:lnSpc>
                <a:spcPts val="2859"/>
              </a:lnSpc>
            </a:pPr>
            <a:r>
              <a:rPr lang="en-US" b="true" sz="2199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Binary Classification</a:t>
            </a:r>
          </a:p>
          <a:p>
            <a:pPr algn="ctr">
              <a:lnSpc>
                <a:spcPts val="2859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2421486" y="4427822"/>
            <a:ext cx="2088189" cy="630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7"/>
              </a:lnSpc>
            </a:pPr>
            <a:r>
              <a:rPr lang="en-US" sz="2543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Dataset</a:t>
            </a:r>
            <a:r>
              <a:rPr lang="en-US" b="true" sz="2543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size</a:t>
            </a:r>
          </a:p>
          <a:p>
            <a:pPr algn="ctr">
              <a:lnSpc>
                <a:spcPts val="2467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2187573" y="5687590"/>
            <a:ext cx="2556014" cy="3050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5"/>
              </a:lnSpc>
            </a:pPr>
            <a:r>
              <a:rPr lang="en-US" sz="2112" b="true">
                <a:solidFill>
                  <a:srgbClr val="FF66C4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119,390</a:t>
            </a:r>
            <a:r>
              <a:rPr lang="en-US" sz="2112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12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bookings</a:t>
            </a:r>
          </a:p>
          <a:p>
            <a:pPr algn="ctr">
              <a:lnSpc>
                <a:spcPts val="2745"/>
              </a:lnSpc>
            </a:pPr>
            <a:r>
              <a:rPr lang="en-US" sz="2112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(from </a:t>
            </a:r>
            <a:r>
              <a:rPr lang="en-US" sz="2112" b="true">
                <a:solidFill>
                  <a:srgbClr val="FF66C4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July 2015</a:t>
            </a:r>
            <a:r>
              <a:rPr lang="en-US" b="true" sz="2112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to </a:t>
            </a:r>
            <a:r>
              <a:rPr lang="en-US" sz="2112" b="true">
                <a:solidFill>
                  <a:srgbClr val="FF66C4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August 2017</a:t>
            </a:r>
            <a:r>
              <a:rPr lang="en-US" b="true" sz="2112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)</a:t>
            </a:r>
          </a:p>
          <a:p>
            <a:pPr algn="ctr">
              <a:lnSpc>
                <a:spcPts val="2745"/>
              </a:lnSpc>
            </a:pPr>
            <a:r>
              <a:rPr lang="en-US" b="true" sz="2112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</a:t>
            </a:r>
          </a:p>
          <a:p>
            <a:pPr algn="ctr">
              <a:lnSpc>
                <a:spcPts val="2745"/>
              </a:lnSpc>
            </a:pPr>
            <a:r>
              <a:rPr lang="en-US" b="true" sz="2112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Two hotels: </a:t>
            </a:r>
          </a:p>
          <a:p>
            <a:pPr algn="ctr">
              <a:lnSpc>
                <a:spcPts val="2745"/>
              </a:lnSpc>
            </a:pPr>
            <a:r>
              <a:rPr lang="en-US" b="true" sz="2112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Resort Hotel </a:t>
            </a:r>
          </a:p>
          <a:p>
            <a:pPr algn="ctr">
              <a:lnSpc>
                <a:spcPts val="2745"/>
              </a:lnSpc>
            </a:pPr>
            <a:r>
              <a:rPr lang="en-US" b="true" sz="2112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+</a:t>
            </a:r>
          </a:p>
          <a:p>
            <a:pPr algn="ctr">
              <a:lnSpc>
                <a:spcPts val="2745"/>
              </a:lnSpc>
            </a:pPr>
            <a:r>
              <a:rPr lang="en-US" b="true" sz="2112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City Hotel</a:t>
            </a:r>
          </a:p>
          <a:p>
            <a:pPr algn="ctr">
              <a:lnSpc>
                <a:spcPts val="2353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10054" y="2204281"/>
            <a:ext cx="13990494" cy="6912896"/>
            <a:chOff x="0" y="0"/>
            <a:chExt cx="3684739" cy="1820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84739" cy="1820681"/>
            </a:xfrm>
            <a:custGeom>
              <a:avLst/>
              <a:gdLst/>
              <a:ahLst/>
              <a:cxnLst/>
              <a:rect r="r" b="b" t="t" l="l"/>
              <a:pathLst>
                <a:path h="1820681" w="3684739">
                  <a:moveTo>
                    <a:pt x="16048" y="0"/>
                  </a:moveTo>
                  <a:lnTo>
                    <a:pt x="3668692" y="0"/>
                  </a:lnTo>
                  <a:cubicBezTo>
                    <a:pt x="3677555" y="0"/>
                    <a:pt x="3684739" y="7185"/>
                    <a:pt x="3684739" y="16048"/>
                  </a:cubicBezTo>
                  <a:lnTo>
                    <a:pt x="3684739" y="1804633"/>
                  </a:lnTo>
                  <a:cubicBezTo>
                    <a:pt x="3684739" y="1808889"/>
                    <a:pt x="3683049" y="1812971"/>
                    <a:pt x="3680039" y="1815980"/>
                  </a:cubicBezTo>
                  <a:cubicBezTo>
                    <a:pt x="3677030" y="1818990"/>
                    <a:pt x="3672948" y="1820681"/>
                    <a:pt x="3668692" y="1820681"/>
                  </a:cubicBezTo>
                  <a:lnTo>
                    <a:pt x="16048" y="1820681"/>
                  </a:lnTo>
                  <a:cubicBezTo>
                    <a:pt x="7185" y="1820681"/>
                    <a:pt x="0" y="1813496"/>
                    <a:pt x="0" y="1804633"/>
                  </a:cubicBezTo>
                  <a:lnTo>
                    <a:pt x="0" y="16048"/>
                  </a:lnTo>
                  <a:cubicBezTo>
                    <a:pt x="0" y="7185"/>
                    <a:pt x="7185" y="0"/>
                    <a:pt x="1604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684739" cy="1877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-2396904" y="8737833"/>
            <a:ext cx="4793807" cy="4802539"/>
          </a:xfrm>
          <a:custGeom>
            <a:avLst/>
            <a:gdLst/>
            <a:ahLst/>
            <a:cxnLst/>
            <a:rect r="r" b="b" t="t" l="l"/>
            <a:pathLst>
              <a:path h="4802539" w="4793807">
                <a:moveTo>
                  <a:pt x="4793808" y="0"/>
                </a:moveTo>
                <a:lnTo>
                  <a:pt x="0" y="0"/>
                </a:lnTo>
                <a:lnTo>
                  <a:pt x="0" y="4802539"/>
                </a:lnTo>
                <a:lnTo>
                  <a:pt x="4793808" y="4802539"/>
                </a:lnTo>
                <a:lnTo>
                  <a:pt x="47938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2607619">
            <a:off x="-5928149" y="2403721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20299770" y="0"/>
                </a:moveTo>
                <a:lnTo>
                  <a:pt x="0" y="0"/>
                </a:lnTo>
                <a:lnTo>
                  <a:pt x="0" y="6754288"/>
                </a:lnTo>
                <a:lnTo>
                  <a:pt x="20299770" y="6754288"/>
                </a:lnTo>
                <a:lnTo>
                  <a:pt x="2029977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86279" y="1192771"/>
            <a:ext cx="1647551" cy="200702"/>
          </a:xfrm>
          <a:custGeom>
            <a:avLst/>
            <a:gdLst/>
            <a:ahLst/>
            <a:cxnLst/>
            <a:rect r="r" b="b" t="t" l="l"/>
            <a:pathLst>
              <a:path h="200702" w="1647551">
                <a:moveTo>
                  <a:pt x="0" y="0"/>
                </a:moveTo>
                <a:lnTo>
                  <a:pt x="1647550" y="0"/>
                </a:lnTo>
                <a:lnTo>
                  <a:pt x="1647550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646921" y="1028700"/>
            <a:ext cx="1675621" cy="3401366"/>
          </a:xfrm>
          <a:custGeom>
            <a:avLst/>
            <a:gdLst/>
            <a:ahLst/>
            <a:cxnLst/>
            <a:rect r="r" b="b" t="t" l="l"/>
            <a:pathLst>
              <a:path h="3401366" w="1675621">
                <a:moveTo>
                  <a:pt x="0" y="0"/>
                </a:moveTo>
                <a:lnTo>
                  <a:pt x="1675621" y="0"/>
                </a:lnTo>
                <a:lnTo>
                  <a:pt x="1675621" y="3401366"/>
                </a:lnTo>
                <a:lnTo>
                  <a:pt x="0" y="34013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7055059" y="1028700"/>
            <a:ext cx="1675621" cy="3401366"/>
          </a:xfrm>
          <a:custGeom>
            <a:avLst/>
            <a:gdLst/>
            <a:ahLst/>
            <a:cxnLst/>
            <a:rect r="r" b="b" t="t" l="l"/>
            <a:pathLst>
              <a:path h="3401366" w="1675621">
                <a:moveTo>
                  <a:pt x="1675621" y="0"/>
                </a:moveTo>
                <a:lnTo>
                  <a:pt x="0" y="0"/>
                </a:lnTo>
                <a:lnTo>
                  <a:pt x="0" y="3401366"/>
                </a:lnTo>
                <a:lnTo>
                  <a:pt x="1675621" y="3401366"/>
                </a:lnTo>
                <a:lnTo>
                  <a:pt x="1675621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91096" y="8737833"/>
            <a:ext cx="4793807" cy="4802539"/>
          </a:xfrm>
          <a:custGeom>
            <a:avLst/>
            <a:gdLst/>
            <a:ahLst/>
            <a:cxnLst/>
            <a:rect r="r" b="b" t="t" l="l"/>
            <a:pathLst>
              <a:path h="4802539" w="4793807">
                <a:moveTo>
                  <a:pt x="0" y="0"/>
                </a:moveTo>
                <a:lnTo>
                  <a:pt x="4793808" y="0"/>
                </a:lnTo>
                <a:lnTo>
                  <a:pt x="4793808" y="4802539"/>
                </a:lnTo>
                <a:lnTo>
                  <a:pt x="0" y="4802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2607619">
            <a:off x="4042397" y="-1670964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20299771" y="0"/>
                </a:moveTo>
                <a:lnTo>
                  <a:pt x="0" y="0"/>
                </a:lnTo>
                <a:lnTo>
                  <a:pt x="0" y="6754288"/>
                </a:lnTo>
                <a:lnTo>
                  <a:pt x="20299771" y="6754288"/>
                </a:lnTo>
                <a:lnTo>
                  <a:pt x="20299771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867513" y="2382804"/>
            <a:ext cx="6255355" cy="6465082"/>
          </a:xfrm>
          <a:custGeom>
            <a:avLst/>
            <a:gdLst/>
            <a:ahLst/>
            <a:cxnLst/>
            <a:rect r="r" b="b" t="t" l="l"/>
            <a:pathLst>
              <a:path h="6465082" w="6255355">
                <a:moveTo>
                  <a:pt x="0" y="0"/>
                </a:moveTo>
                <a:lnTo>
                  <a:pt x="6255356" y="0"/>
                </a:lnTo>
                <a:lnTo>
                  <a:pt x="6255356" y="6465082"/>
                </a:lnTo>
                <a:lnTo>
                  <a:pt x="0" y="64650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2256" r="-65055" b="-6125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144000" y="2382804"/>
            <a:ext cx="7450652" cy="6465082"/>
          </a:xfrm>
          <a:custGeom>
            <a:avLst/>
            <a:gdLst/>
            <a:ahLst/>
            <a:cxnLst/>
            <a:rect r="r" b="b" t="t" l="l"/>
            <a:pathLst>
              <a:path h="6465082" w="7450652">
                <a:moveTo>
                  <a:pt x="0" y="0"/>
                </a:moveTo>
                <a:lnTo>
                  <a:pt x="7450652" y="0"/>
                </a:lnTo>
                <a:lnTo>
                  <a:pt x="7450652" y="6465082"/>
                </a:lnTo>
                <a:lnTo>
                  <a:pt x="0" y="646508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70" r="-4332" b="-17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582764" y="481630"/>
            <a:ext cx="5122472" cy="711141"/>
            <a:chOff x="0" y="0"/>
            <a:chExt cx="3915949" cy="5436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915949" cy="543642"/>
            </a:xfrm>
            <a:custGeom>
              <a:avLst/>
              <a:gdLst/>
              <a:ahLst/>
              <a:cxnLst/>
              <a:rect r="r" b="b" t="t" l="l"/>
              <a:pathLst>
                <a:path h="543642" w="3915949">
                  <a:moveTo>
                    <a:pt x="3712749" y="0"/>
                  </a:moveTo>
                  <a:cubicBezTo>
                    <a:pt x="3824973" y="0"/>
                    <a:pt x="3915949" y="121698"/>
                    <a:pt x="3915949" y="271821"/>
                  </a:cubicBezTo>
                  <a:cubicBezTo>
                    <a:pt x="3915949" y="421944"/>
                    <a:pt x="3824973" y="543642"/>
                    <a:pt x="3712749" y="543642"/>
                  </a:cubicBezTo>
                  <a:lnTo>
                    <a:pt x="203200" y="543642"/>
                  </a:lnTo>
                  <a:cubicBezTo>
                    <a:pt x="90976" y="543642"/>
                    <a:pt x="0" y="421944"/>
                    <a:pt x="0" y="271821"/>
                  </a:cubicBezTo>
                  <a:cubicBezTo>
                    <a:pt x="0" y="121698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3915949" cy="600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651700" y="530178"/>
            <a:ext cx="298459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Sample Of Data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344591">
            <a:off x="-4133055" y="5173956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20299770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0" y="6754287"/>
                </a:lnTo>
                <a:lnTo>
                  <a:pt x="2029977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975364">
            <a:off x="9101346" y="-6203143"/>
            <a:ext cx="8862696" cy="8878839"/>
          </a:xfrm>
          <a:custGeom>
            <a:avLst/>
            <a:gdLst/>
            <a:ahLst/>
            <a:cxnLst/>
            <a:rect r="r" b="b" t="t" l="l"/>
            <a:pathLst>
              <a:path h="8878839" w="8862696">
                <a:moveTo>
                  <a:pt x="0" y="0"/>
                </a:moveTo>
                <a:lnTo>
                  <a:pt x="8862696" y="0"/>
                </a:lnTo>
                <a:lnTo>
                  <a:pt x="8862696" y="8878839"/>
                </a:lnTo>
                <a:lnTo>
                  <a:pt x="0" y="88788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2703257" y="2140968"/>
            <a:ext cx="5750433" cy="8084119"/>
          </a:xfrm>
          <a:custGeom>
            <a:avLst/>
            <a:gdLst/>
            <a:ahLst/>
            <a:cxnLst/>
            <a:rect r="r" b="b" t="t" l="l"/>
            <a:pathLst>
              <a:path h="8084119" w="5750433">
                <a:moveTo>
                  <a:pt x="5750433" y="0"/>
                </a:moveTo>
                <a:lnTo>
                  <a:pt x="0" y="0"/>
                </a:lnTo>
                <a:lnTo>
                  <a:pt x="0" y="8084119"/>
                </a:lnTo>
                <a:lnTo>
                  <a:pt x="5750433" y="8084119"/>
                </a:lnTo>
                <a:lnTo>
                  <a:pt x="5750433" y="0"/>
                </a:lnTo>
                <a:close/>
              </a:path>
            </a:pathLst>
          </a:custGeom>
          <a:blipFill>
            <a:blip r:embed="rId6"/>
            <a:stretch>
              <a:fillRect l="0" t="0" r="0" b="-1799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8860" y="3669887"/>
            <a:ext cx="643117" cy="64311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18860" y="5143500"/>
            <a:ext cx="643117" cy="64311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18860" y="4429125"/>
            <a:ext cx="643117" cy="64311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18860" y="6944219"/>
            <a:ext cx="643117" cy="64311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789113" y="3767965"/>
            <a:ext cx="7305200" cy="37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sz="29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comp</a:t>
            </a:r>
            <a:r>
              <a:rPr lang="en-US" sz="29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any (~94% missing) → dropped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89113" y="5265452"/>
            <a:ext cx="14898555" cy="722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sz="29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country &amp; childr</a:t>
            </a:r>
            <a:r>
              <a:rPr lang="en-US" sz="29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 (~0.4%) → filled with mode / "Unknown" using SQL &amp; Orange</a:t>
            </a:r>
          </a:p>
          <a:p>
            <a:pPr algn="l">
              <a:lnSpc>
                <a:spcPts val="2813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789113" y="4495800"/>
            <a:ext cx="8256577" cy="722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sz="29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agent (~13.7%) → fill</a:t>
            </a:r>
            <a:r>
              <a:rPr lang="en-US" sz="29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ed with 0 (direct booking)</a:t>
            </a:r>
          </a:p>
          <a:p>
            <a:pPr algn="l">
              <a:lnSpc>
                <a:spcPts val="2813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165652" y="6140736"/>
            <a:ext cx="2070892" cy="798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3200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Encod</a:t>
            </a:r>
            <a:r>
              <a:rPr lang="en-US" sz="3200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ing</a:t>
            </a:r>
          </a:p>
          <a:p>
            <a:pPr algn="l">
              <a:lnSpc>
                <a:spcPts val="3104"/>
              </a:lnSpc>
            </a:pPr>
          </a:p>
        </p:txBody>
      </p:sp>
      <p:grpSp>
        <p:nvGrpSpPr>
          <p:cNvPr name="Group 21" id="21"/>
          <p:cNvGrpSpPr/>
          <p:nvPr/>
        </p:nvGrpSpPr>
        <p:grpSpPr>
          <a:xfrm rot="0">
            <a:off x="817027" y="836515"/>
            <a:ext cx="4928527" cy="1304453"/>
            <a:chOff x="0" y="0"/>
            <a:chExt cx="4083162" cy="108070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83162" cy="1080707"/>
            </a:xfrm>
            <a:custGeom>
              <a:avLst/>
              <a:gdLst/>
              <a:ahLst/>
              <a:cxnLst/>
              <a:rect r="r" b="b" t="t" l="l"/>
              <a:pathLst>
                <a:path h="1080707" w="4083162">
                  <a:moveTo>
                    <a:pt x="3879962" y="0"/>
                  </a:moveTo>
                  <a:cubicBezTo>
                    <a:pt x="3992187" y="0"/>
                    <a:pt x="4083162" y="241925"/>
                    <a:pt x="4083162" y="540353"/>
                  </a:cubicBezTo>
                  <a:cubicBezTo>
                    <a:pt x="4083162" y="838783"/>
                    <a:pt x="3992187" y="1080707"/>
                    <a:pt x="3879962" y="1080707"/>
                  </a:cubicBezTo>
                  <a:lnTo>
                    <a:pt x="203200" y="1080707"/>
                  </a:lnTo>
                  <a:cubicBezTo>
                    <a:pt x="90976" y="1080707"/>
                    <a:pt x="0" y="838783"/>
                    <a:pt x="0" y="540353"/>
                  </a:cubicBezTo>
                  <a:cubicBezTo>
                    <a:pt x="0" y="241925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4083162" cy="1137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165652" y="922240"/>
            <a:ext cx="4206895" cy="164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0"/>
              </a:lnSpc>
            </a:pPr>
            <a:r>
              <a:rPr lang="en-US" sz="4340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Data Preprocessing</a:t>
            </a:r>
          </a:p>
          <a:p>
            <a:pPr algn="l">
              <a:lnSpc>
                <a:spcPts val="4210"/>
              </a:lnSpc>
            </a:pP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155813" y="3820467"/>
            <a:ext cx="369212" cy="341958"/>
          </a:xfrm>
          <a:custGeom>
            <a:avLst/>
            <a:gdLst/>
            <a:ahLst/>
            <a:cxnLst/>
            <a:rect r="r" b="b" t="t" l="l"/>
            <a:pathLst>
              <a:path h="341958" w="369212">
                <a:moveTo>
                  <a:pt x="0" y="0"/>
                </a:moveTo>
                <a:lnTo>
                  <a:pt x="369212" y="0"/>
                </a:lnTo>
                <a:lnTo>
                  <a:pt x="369212" y="341958"/>
                </a:lnTo>
                <a:lnTo>
                  <a:pt x="0" y="3419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55813" y="5294079"/>
            <a:ext cx="369212" cy="341958"/>
          </a:xfrm>
          <a:custGeom>
            <a:avLst/>
            <a:gdLst/>
            <a:ahLst/>
            <a:cxnLst/>
            <a:rect r="r" b="b" t="t" l="l"/>
            <a:pathLst>
              <a:path h="341958" w="369212">
                <a:moveTo>
                  <a:pt x="0" y="0"/>
                </a:moveTo>
                <a:lnTo>
                  <a:pt x="369212" y="0"/>
                </a:lnTo>
                <a:lnTo>
                  <a:pt x="369212" y="341959"/>
                </a:lnTo>
                <a:lnTo>
                  <a:pt x="0" y="3419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65652" y="4579704"/>
            <a:ext cx="369212" cy="341958"/>
          </a:xfrm>
          <a:custGeom>
            <a:avLst/>
            <a:gdLst/>
            <a:ahLst/>
            <a:cxnLst/>
            <a:rect r="r" b="b" t="t" l="l"/>
            <a:pathLst>
              <a:path h="341958" w="369212">
                <a:moveTo>
                  <a:pt x="0" y="0"/>
                </a:moveTo>
                <a:lnTo>
                  <a:pt x="369213" y="0"/>
                </a:lnTo>
                <a:lnTo>
                  <a:pt x="369213" y="341959"/>
                </a:lnTo>
                <a:lnTo>
                  <a:pt x="0" y="3419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55813" y="7122142"/>
            <a:ext cx="369212" cy="341958"/>
          </a:xfrm>
          <a:custGeom>
            <a:avLst/>
            <a:gdLst/>
            <a:ahLst/>
            <a:cxnLst/>
            <a:rect r="r" b="b" t="t" l="l"/>
            <a:pathLst>
              <a:path h="341958" w="369212">
                <a:moveTo>
                  <a:pt x="0" y="0"/>
                </a:moveTo>
                <a:lnTo>
                  <a:pt x="369212" y="0"/>
                </a:lnTo>
                <a:lnTo>
                  <a:pt x="369212" y="341958"/>
                </a:lnTo>
                <a:lnTo>
                  <a:pt x="0" y="3419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-431506" y="292352"/>
            <a:ext cx="1248533" cy="2534416"/>
          </a:xfrm>
          <a:custGeom>
            <a:avLst/>
            <a:gdLst/>
            <a:ahLst/>
            <a:cxnLst/>
            <a:rect r="r" b="b" t="t" l="l"/>
            <a:pathLst>
              <a:path h="2534416" w="1248533">
                <a:moveTo>
                  <a:pt x="0" y="0"/>
                </a:moveTo>
                <a:lnTo>
                  <a:pt x="1248533" y="0"/>
                </a:lnTo>
                <a:lnTo>
                  <a:pt x="1248533" y="2534416"/>
                </a:lnTo>
                <a:lnTo>
                  <a:pt x="0" y="25344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5400000">
            <a:off x="9501573" y="8413669"/>
            <a:ext cx="1520526" cy="3086537"/>
          </a:xfrm>
          <a:custGeom>
            <a:avLst/>
            <a:gdLst/>
            <a:ahLst/>
            <a:cxnLst/>
            <a:rect r="r" b="b" t="t" l="l"/>
            <a:pathLst>
              <a:path h="3086537" w="1520526">
                <a:moveTo>
                  <a:pt x="0" y="0"/>
                </a:moveTo>
                <a:lnTo>
                  <a:pt x="1520525" y="0"/>
                </a:lnTo>
                <a:lnTo>
                  <a:pt x="1520525" y="3086537"/>
                </a:lnTo>
                <a:lnTo>
                  <a:pt x="0" y="308653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8718567" y="1229307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06388" r="-103152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165652" y="2902968"/>
            <a:ext cx="3390294" cy="798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3200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</a:t>
            </a:r>
            <a:r>
              <a:rPr lang="en-US" sz="3200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issing values</a:t>
            </a:r>
          </a:p>
          <a:p>
            <a:pPr algn="l">
              <a:lnSpc>
                <a:spcPts val="3104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1789113" y="7091458"/>
            <a:ext cx="10338747" cy="2478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3355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One-Hot Encoding for categor</a:t>
            </a:r>
            <a:r>
              <a:rPr lang="en-US" sz="3355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ical: </a:t>
            </a:r>
          </a:p>
          <a:p>
            <a:pPr algn="l">
              <a:lnSpc>
                <a:spcPts val="3254"/>
              </a:lnSpc>
            </a:pPr>
          </a:p>
          <a:p>
            <a:pPr algn="l">
              <a:lnSpc>
                <a:spcPts val="3254"/>
              </a:lnSpc>
            </a:pPr>
            <a:r>
              <a:rPr lang="en-US" sz="3355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hotel - meal-country - market_segment </a:t>
            </a:r>
          </a:p>
          <a:p>
            <a:pPr algn="l">
              <a:lnSpc>
                <a:spcPts val="3254"/>
              </a:lnSpc>
            </a:pPr>
            <a:r>
              <a:rPr lang="en-US" sz="3355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deposit_type - customer_type </a:t>
            </a:r>
          </a:p>
          <a:p>
            <a:pPr algn="l">
              <a:lnSpc>
                <a:spcPts val="3254"/>
              </a:lnSpc>
            </a:pPr>
            <a:r>
              <a:rPr lang="en-US" sz="3355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Label Encoding for ordinal if needed.</a:t>
            </a:r>
          </a:p>
          <a:p>
            <a:pPr algn="l">
              <a:lnSpc>
                <a:spcPts val="3254"/>
              </a:lnSpc>
            </a:pPr>
          </a:p>
        </p:txBody>
      </p:sp>
      <p:sp>
        <p:nvSpPr>
          <p:cNvPr name="Freeform 34" id="34"/>
          <p:cNvSpPr/>
          <p:nvPr/>
        </p:nvSpPr>
        <p:spPr>
          <a:xfrm flipH="true" flipV="false" rot="1344591">
            <a:off x="-6602185" y="5755364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20299770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0" y="6754287"/>
                </a:lnTo>
                <a:lnTo>
                  <a:pt x="2029977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344591">
            <a:off x="-8360773" y="9661354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20299771" y="0"/>
                </a:moveTo>
                <a:lnTo>
                  <a:pt x="0" y="0"/>
                </a:lnTo>
                <a:lnTo>
                  <a:pt x="0" y="6754288"/>
                </a:lnTo>
                <a:lnTo>
                  <a:pt x="20299771" y="6754288"/>
                </a:lnTo>
                <a:lnTo>
                  <a:pt x="20299771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975364">
            <a:off x="9101346" y="-6203143"/>
            <a:ext cx="8862696" cy="8878839"/>
          </a:xfrm>
          <a:custGeom>
            <a:avLst/>
            <a:gdLst/>
            <a:ahLst/>
            <a:cxnLst/>
            <a:rect r="r" b="b" t="t" l="l"/>
            <a:pathLst>
              <a:path h="8878839" w="8862696">
                <a:moveTo>
                  <a:pt x="0" y="0"/>
                </a:moveTo>
                <a:lnTo>
                  <a:pt x="8862696" y="0"/>
                </a:lnTo>
                <a:lnTo>
                  <a:pt x="8862696" y="8878839"/>
                </a:lnTo>
                <a:lnTo>
                  <a:pt x="0" y="88788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275649" y="2945866"/>
            <a:ext cx="4616756" cy="6801443"/>
          </a:xfrm>
          <a:custGeom>
            <a:avLst/>
            <a:gdLst/>
            <a:ahLst/>
            <a:cxnLst/>
            <a:rect r="r" b="b" t="t" l="l"/>
            <a:pathLst>
              <a:path h="6801443" w="4616756">
                <a:moveTo>
                  <a:pt x="4616757" y="0"/>
                </a:moveTo>
                <a:lnTo>
                  <a:pt x="0" y="0"/>
                </a:lnTo>
                <a:lnTo>
                  <a:pt x="0" y="6801443"/>
                </a:lnTo>
                <a:lnTo>
                  <a:pt x="4616757" y="6801443"/>
                </a:lnTo>
                <a:lnTo>
                  <a:pt x="4616757" y="0"/>
                </a:lnTo>
                <a:close/>
              </a:path>
            </a:pathLst>
          </a:custGeom>
          <a:blipFill>
            <a:blip r:embed="rId6"/>
            <a:stretch>
              <a:fillRect l="-15427" t="-6064" r="0" b="-6064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8860" y="3669887"/>
            <a:ext cx="643117" cy="64311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18860" y="6921480"/>
            <a:ext cx="643117" cy="64311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89113" y="3736562"/>
            <a:ext cx="9135701" cy="1427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sz="29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Min-Max Scaling or St</a:t>
            </a:r>
            <a:r>
              <a:rPr lang="en-US" sz="29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andardization applied to numerical features        </a:t>
            </a:r>
          </a:p>
          <a:p>
            <a:pPr algn="l">
              <a:lnSpc>
                <a:spcPts val="2813"/>
              </a:lnSpc>
            </a:pPr>
            <a:r>
              <a:rPr lang="en-US" sz="29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(Lead time, ADR, Stays in week nights, ...)</a:t>
            </a:r>
          </a:p>
          <a:p>
            <a:pPr algn="l">
              <a:lnSpc>
                <a:spcPts val="281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789113" y="5265452"/>
            <a:ext cx="14898555" cy="722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sz="29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country &amp; childr</a:t>
            </a:r>
            <a:r>
              <a:rPr lang="en-US" sz="29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 (~0.4%) → filled with mode / "Unknown" using SQL &amp; Orange</a:t>
            </a:r>
          </a:p>
          <a:p>
            <a:pPr algn="l">
              <a:lnSpc>
                <a:spcPts val="2813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165652" y="6123158"/>
            <a:ext cx="3886266" cy="798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3200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Feature select</a:t>
            </a:r>
            <a:r>
              <a:rPr lang="en-US" sz="3200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ion</a:t>
            </a:r>
          </a:p>
          <a:p>
            <a:pPr algn="l">
              <a:lnSpc>
                <a:spcPts val="3104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817027" y="836515"/>
            <a:ext cx="4928527" cy="1304453"/>
            <a:chOff x="0" y="0"/>
            <a:chExt cx="4083162" cy="10807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83162" cy="1080707"/>
            </a:xfrm>
            <a:custGeom>
              <a:avLst/>
              <a:gdLst/>
              <a:ahLst/>
              <a:cxnLst/>
              <a:rect r="r" b="b" t="t" l="l"/>
              <a:pathLst>
                <a:path h="1080707" w="4083162">
                  <a:moveTo>
                    <a:pt x="3879962" y="0"/>
                  </a:moveTo>
                  <a:cubicBezTo>
                    <a:pt x="3992187" y="0"/>
                    <a:pt x="4083162" y="241925"/>
                    <a:pt x="4083162" y="540353"/>
                  </a:cubicBezTo>
                  <a:cubicBezTo>
                    <a:pt x="4083162" y="838783"/>
                    <a:pt x="3992187" y="1080707"/>
                    <a:pt x="3879962" y="1080707"/>
                  </a:cubicBezTo>
                  <a:lnTo>
                    <a:pt x="203200" y="1080707"/>
                  </a:lnTo>
                  <a:cubicBezTo>
                    <a:pt x="90976" y="1080707"/>
                    <a:pt x="0" y="838783"/>
                    <a:pt x="0" y="540353"/>
                  </a:cubicBezTo>
                  <a:cubicBezTo>
                    <a:pt x="0" y="241925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083162" cy="1137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65652" y="922240"/>
            <a:ext cx="4206895" cy="164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0"/>
              </a:lnSpc>
            </a:pPr>
            <a:r>
              <a:rPr lang="en-US" sz="4340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Data Preprocessing</a:t>
            </a:r>
          </a:p>
          <a:p>
            <a:pPr algn="l">
              <a:lnSpc>
                <a:spcPts val="4210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1028700" y="8483940"/>
            <a:ext cx="643117" cy="643117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155813" y="3820467"/>
            <a:ext cx="369212" cy="341958"/>
          </a:xfrm>
          <a:custGeom>
            <a:avLst/>
            <a:gdLst/>
            <a:ahLst/>
            <a:cxnLst/>
            <a:rect r="r" b="b" t="t" l="l"/>
            <a:pathLst>
              <a:path h="341958" w="369212">
                <a:moveTo>
                  <a:pt x="0" y="0"/>
                </a:moveTo>
                <a:lnTo>
                  <a:pt x="369212" y="0"/>
                </a:lnTo>
                <a:lnTo>
                  <a:pt x="369212" y="341958"/>
                </a:lnTo>
                <a:lnTo>
                  <a:pt x="0" y="3419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55813" y="7072060"/>
            <a:ext cx="369212" cy="341958"/>
          </a:xfrm>
          <a:custGeom>
            <a:avLst/>
            <a:gdLst/>
            <a:ahLst/>
            <a:cxnLst/>
            <a:rect r="r" b="b" t="t" l="l"/>
            <a:pathLst>
              <a:path h="341958" w="369212">
                <a:moveTo>
                  <a:pt x="0" y="0"/>
                </a:moveTo>
                <a:lnTo>
                  <a:pt x="369212" y="0"/>
                </a:lnTo>
                <a:lnTo>
                  <a:pt x="369212" y="341958"/>
                </a:lnTo>
                <a:lnTo>
                  <a:pt x="0" y="3419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-431506" y="292352"/>
            <a:ext cx="1248533" cy="2534416"/>
          </a:xfrm>
          <a:custGeom>
            <a:avLst/>
            <a:gdLst/>
            <a:ahLst/>
            <a:cxnLst/>
            <a:rect r="r" b="b" t="t" l="l"/>
            <a:pathLst>
              <a:path h="2534416" w="1248533">
                <a:moveTo>
                  <a:pt x="0" y="0"/>
                </a:moveTo>
                <a:lnTo>
                  <a:pt x="1248533" y="0"/>
                </a:lnTo>
                <a:lnTo>
                  <a:pt x="1248533" y="2534416"/>
                </a:lnTo>
                <a:lnTo>
                  <a:pt x="0" y="25344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5400000">
            <a:off x="6934858" y="8286657"/>
            <a:ext cx="1520526" cy="3086537"/>
          </a:xfrm>
          <a:custGeom>
            <a:avLst/>
            <a:gdLst/>
            <a:ahLst/>
            <a:cxnLst/>
            <a:rect r="r" b="b" t="t" l="l"/>
            <a:pathLst>
              <a:path h="3086537" w="1520526">
                <a:moveTo>
                  <a:pt x="0" y="0"/>
                </a:moveTo>
                <a:lnTo>
                  <a:pt x="1520526" y="0"/>
                </a:lnTo>
                <a:lnTo>
                  <a:pt x="1520526" y="3086537"/>
                </a:lnTo>
                <a:lnTo>
                  <a:pt x="0" y="308653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718567" y="1229307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06388" r="-103152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65652" y="2902968"/>
            <a:ext cx="3390294" cy="798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3200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Normal</a:t>
            </a:r>
            <a:r>
              <a:rPr lang="en-US" sz="3200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ization</a:t>
            </a:r>
          </a:p>
          <a:p>
            <a:pPr algn="l">
              <a:lnSpc>
                <a:spcPts val="3104"/>
              </a:lnSpc>
            </a:pPr>
          </a:p>
        </p:txBody>
      </p:sp>
      <p:sp>
        <p:nvSpPr>
          <p:cNvPr name="Freeform 27" id="27"/>
          <p:cNvSpPr/>
          <p:nvPr/>
        </p:nvSpPr>
        <p:spPr>
          <a:xfrm flipH="true" flipV="false" rot="1344591">
            <a:off x="-8809467" y="9640832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20299771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1" y="6754287"/>
                </a:lnTo>
                <a:lnTo>
                  <a:pt x="20299771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789113" y="7085913"/>
            <a:ext cx="3886266" cy="722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sz="2900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Correlat</a:t>
            </a:r>
            <a:r>
              <a:rPr lang="en-US" sz="2900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ion analysis</a:t>
            </a:r>
          </a:p>
          <a:p>
            <a:pPr algn="l">
              <a:lnSpc>
                <a:spcPts val="2813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789113" y="7873980"/>
            <a:ext cx="3886266" cy="722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sz="2900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feature </a:t>
            </a:r>
            <a:r>
              <a:rPr lang="en-US" sz="2900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importance</a:t>
            </a:r>
          </a:p>
          <a:p>
            <a:pPr algn="l">
              <a:lnSpc>
                <a:spcPts val="2813"/>
              </a:lnSpc>
            </a:pPr>
          </a:p>
        </p:txBody>
      </p:sp>
      <p:grpSp>
        <p:nvGrpSpPr>
          <p:cNvPr name="Group 30" id="30"/>
          <p:cNvGrpSpPr/>
          <p:nvPr/>
        </p:nvGrpSpPr>
        <p:grpSpPr>
          <a:xfrm rot="0">
            <a:off x="1028700" y="7716997"/>
            <a:ext cx="643117" cy="643117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155813" y="7867577"/>
            <a:ext cx="369212" cy="341958"/>
          </a:xfrm>
          <a:custGeom>
            <a:avLst/>
            <a:gdLst/>
            <a:ahLst/>
            <a:cxnLst/>
            <a:rect r="r" b="b" t="t" l="l"/>
            <a:pathLst>
              <a:path h="341958" w="369212">
                <a:moveTo>
                  <a:pt x="0" y="0"/>
                </a:moveTo>
                <a:lnTo>
                  <a:pt x="369212" y="0"/>
                </a:lnTo>
                <a:lnTo>
                  <a:pt x="369212" y="341958"/>
                </a:lnTo>
                <a:lnTo>
                  <a:pt x="0" y="3419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661977" y="8549298"/>
            <a:ext cx="5016545" cy="204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Removed highly correlated and low-importance features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165652" y="8606448"/>
            <a:ext cx="369212" cy="341958"/>
          </a:xfrm>
          <a:custGeom>
            <a:avLst/>
            <a:gdLst/>
            <a:ahLst/>
            <a:cxnLst/>
            <a:rect r="r" b="b" t="t" l="l"/>
            <a:pathLst>
              <a:path h="341958" w="369212">
                <a:moveTo>
                  <a:pt x="0" y="0"/>
                </a:moveTo>
                <a:lnTo>
                  <a:pt x="369213" y="0"/>
                </a:lnTo>
                <a:lnTo>
                  <a:pt x="369213" y="341958"/>
                </a:lnTo>
                <a:lnTo>
                  <a:pt x="0" y="3419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8916831" y="6921480"/>
            <a:ext cx="643117" cy="643117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9053784" y="7053481"/>
            <a:ext cx="369212" cy="341958"/>
          </a:xfrm>
          <a:custGeom>
            <a:avLst/>
            <a:gdLst/>
            <a:ahLst/>
            <a:cxnLst/>
            <a:rect r="r" b="b" t="t" l="l"/>
            <a:pathLst>
              <a:path h="341958" w="369212">
                <a:moveTo>
                  <a:pt x="0" y="0"/>
                </a:moveTo>
                <a:lnTo>
                  <a:pt x="369212" y="0"/>
                </a:lnTo>
                <a:lnTo>
                  <a:pt x="369212" y="341958"/>
                </a:lnTo>
                <a:lnTo>
                  <a:pt x="0" y="3419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9683773" y="6965544"/>
            <a:ext cx="3165128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Top features kept: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945222" y="7642211"/>
            <a:ext cx="8236410" cy="255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</a:t>
            </a:r>
            <a:r>
              <a:rPr lang="en-US" sz="28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ead time                   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Deposit type              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    Previous cancellations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Market segment        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         Total of special requests.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509813">
            <a:off x="10506151" y="-3130766"/>
            <a:ext cx="6058172" cy="6069207"/>
          </a:xfrm>
          <a:custGeom>
            <a:avLst/>
            <a:gdLst/>
            <a:ahLst/>
            <a:cxnLst/>
            <a:rect r="r" b="b" t="t" l="l"/>
            <a:pathLst>
              <a:path h="6069207" w="6058172">
                <a:moveTo>
                  <a:pt x="0" y="0"/>
                </a:moveTo>
                <a:lnTo>
                  <a:pt x="6058172" y="0"/>
                </a:lnTo>
                <a:lnTo>
                  <a:pt x="6058172" y="6069207"/>
                </a:lnTo>
                <a:lnTo>
                  <a:pt x="0" y="6069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54844">
            <a:off x="4027966" y="3480094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7017745" y="5210303"/>
            <a:ext cx="1622664" cy="3293868"/>
          </a:xfrm>
          <a:custGeom>
            <a:avLst/>
            <a:gdLst/>
            <a:ahLst/>
            <a:cxnLst/>
            <a:rect r="r" b="b" t="t" l="l"/>
            <a:pathLst>
              <a:path h="3293868" w="1622664">
                <a:moveTo>
                  <a:pt x="1622664" y="0"/>
                </a:moveTo>
                <a:lnTo>
                  <a:pt x="0" y="0"/>
                </a:lnTo>
                <a:lnTo>
                  <a:pt x="0" y="3293869"/>
                </a:lnTo>
                <a:lnTo>
                  <a:pt x="1622664" y="3293869"/>
                </a:lnTo>
                <a:lnTo>
                  <a:pt x="1622664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5400000">
            <a:off x="1590020" y="8233202"/>
            <a:ext cx="1627419" cy="3303521"/>
          </a:xfrm>
          <a:custGeom>
            <a:avLst/>
            <a:gdLst/>
            <a:ahLst/>
            <a:cxnLst/>
            <a:rect r="r" b="b" t="t" l="l"/>
            <a:pathLst>
              <a:path h="3303521" w="1627419">
                <a:moveTo>
                  <a:pt x="1627419" y="3303521"/>
                </a:moveTo>
                <a:lnTo>
                  <a:pt x="0" y="3303521"/>
                </a:lnTo>
                <a:lnTo>
                  <a:pt x="0" y="0"/>
                </a:lnTo>
                <a:lnTo>
                  <a:pt x="1627419" y="0"/>
                </a:lnTo>
                <a:lnTo>
                  <a:pt x="1627419" y="3303521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142007" y="2619194"/>
            <a:ext cx="6397994" cy="1556401"/>
            <a:chOff x="0" y="0"/>
            <a:chExt cx="1670614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70614" cy="406400"/>
            </a:xfrm>
            <a:custGeom>
              <a:avLst/>
              <a:gdLst/>
              <a:ahLst/>
              <a:cxnLst/>
              <a:rect r="r" b="b" t="t" l="l"/>
              <a:pathLst>
                <a:path h="406400" w="1670614">
                  <a:moveTo>
                    <a:pt x="1467414" y="0"/>
                  </a:moveTo>
                  <a:cubicBezTo>
                    <a:pt x="1579638" y="0"/>
                    <a:pt x="1670614" y="90976"/>
                    <a:pt x="1670614" y="203200"/>
                  </a:cubicBezTo>
                  <a:cubicBezTo>
                    <a:pt x="1670614" y="315424"/>
                    <a:pt x="1579638" y="406400"/>
                    <a:pt x="146741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67061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51810" y="2619194"/>
            <a:ext cx="5990609" cy="1556401"/>
            <a:chOff x="0" y="0"/>
            <a:chExt cx="1564239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64239" cy="406400"/>
            </a:xfrm>
            <a:custGeom>
              <a:avLst/>
              <a:gdLst/>
              <a:ahLst/>
              <a:cxnLst/>
              <a:rect r="r" b="b" t="t" l="l"/>
              <a:pathLst>
                <a:path h="406400" w="1564239">
                  <a:moveTo>
                    <a:pt x="1361039" y="0"/>
                  </a:moveTo>
                  <a:cubicBezTo>
                    <a:pt x="1473264" y="0"/>
                    <a:pt x="1564239" y="90976"/>
                    <a:pt x="1564239" y="203200"/>
                  </a:cubicBezTo>
                  <a:cubicBezTo>
                    <a:pt x="1564239" y="315424"/>
                    <a:pt x="1473264" y="406400"/>
                    <a:pt x="136103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564239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055491" y="2619194"/>
            <a:ext cx="5041282" cy="1556401"/>
            <a:chOff x="0" y="0"/>
            <a:chExt cx="1316356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6356" cy="406400"/>
            </a:xfrm>
            <a:custGeom>
              <a:avLst/>
              <a:gdLst/>
              <a:ahLst/>
              <a:cxnLst/>
              <a:rect r="r" b="b" t="t" l="l"/>
              <a:pathLst>
                <a:path h="406400" w="1316356">
                  <a:moveTo>
                    <a:pt x="1113156" y="0"/>
                  </a:moveTo>
                  <a:cubicBezTo>
                    <a:pt x="1225380" y="0"/>
                    <a:pt x="1316356" y="90976"/>
                    <a:pt x="1316356" y="203200"/>
                  </a:cubicBezTo>
                  <a:cubicBezTo>
                    <a:pt x="1316356" y="315424"/>
                    <a:pt x="1225380" y="406400"/>
                    <a:pt x="111315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316356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239743" y="2619194"/>
            <a:ext cx="3631495" cy="1556401"/>
            <a:chOff x="0" y="0"/>
            <a:chExt cx="948239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8239" cy="406400"/>
            </a:xfrm>
            <a:custGeom>
              <a:avLst/>
              <a:gdLst/>
              <a:ahLst/>
              <a:cxnLst/>
              <a:rect r="r" b="b" t="t" l="l"/>
              <a:pathLst>
                <a:path h="406400" w="948239">
                  <a:moveTo>
                    <a:pt x="745039" y="0"/>
                  </a:moveTo>
                  <a:cubicBezTo>
                    <a:pt x="857263" y="0"/>
                    <a:pt x="948239" y="90976"/>
                    <a:pt x="948239" y="203200"/>
                  </a:cubicBezTo>
                  <a:cubicBezTo>
                    <a:pt x="948239" y="315424"/>
                    <a:pt x="857263" y="406400"/>
                    <a:pt x="74503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948239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577878" y="4889648"/>
            <a:ext cx="5914718" cy="641311"/>
            <a:chOff x="0" y="0"/>
            <a:chExt cx="3748167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48167" cy="406400"/>
            </a:xfrm>
            <a:custGeom>
              <a:avLst/>
              <a:gdLst/>
              <a:ahLst/>
              <a:cxnLst/>
              <a:rect r="r" b="b" t="t" l="l"/>
              <a:pathLst>
                <a:path h="406400" w="3748167">
                  <a:moveTo>
                    <a:pt x="3544967" y="0"/>
                  </a:moveTo>
                  <a:cubicBezTo>
                    <a:pt x="3657191" y="0"/>
                    <a:pt x="3748167" y="90976"/>
                    <a:pt x="3748167" y="203200"/>
                  </a:cubicBezTo>
                  <a:cubicBezTo>
                    <a:pt x="3748167" y="315424"/>
                    <a:pt x="3657191" y="406400"/>
                    <a:pt x="354496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3748167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7124962" y="9138199"/>
            <a:ext cx="1971810" cy="240202"/>
          </a:xfrm>
          <a:custGeom>
            <a:avLst/>
            <a:gdLst/>
            <a:ahLst/>
            <a:cxnLst/>
            <a:rect r="r" b="b" t="t" l="l"/>
            <a:pathLst>
              <a:path h="240202" w="1971810">
                <a:moveTo>
                  <a:pt x="0" y="0"/>
                </a:moveTo>
                <a:lnTo>
                  <a:pt x="1971811" y="0"/>
                </a:lnTo>
                <a:lnTo>
                  <a:pt x="1971811" y="240202"/>
                </a:lnTo>
                <a:lnTo>
                  <a:pt x="0" y="2402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841251" y="8597794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4" y="0"/>
                </a:lnTo>
                <a:lnTo>
                  <a:pt x="666144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06388" r="-103152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359336" y="4902753"/>
            <a:ext cx="6511139" cy="976235"/>
            <a:chOff x="0" y="0"/>
            <a:chExt cx="4113468" cy="61674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13468" cy="616745"/>
            </a:xfrm>
            <a:custGeom>
              <a:avLst/>
              <a:gdLst/>
              <a:ahLst/>
              <a:cxnLst/>
              <a:rect r="r" b="b" t="t" l="l"/>
              <a:pathLst>
                <a:path h="616745" w="4113468">
                  <a:moveTo>
                    <a:pt x="3910268" y="0"/>
                  </a:moveTo>
                  <a:cubicBezTo>
                    <a:pt x="4022492" y="0"/>
                    <a:pt x="4113468" y="138063"/>
                    <a:pt x="4113468" y="308372"/>
                  </a:cubicBezTo>
                  <a:cubicBezTo>
                    <a:pt x="4113468" y="478682"/>
                    <a:pt x="4022492" y="616745"/>
                    <a:pt x="3910268" y="616745"/>
                  </a:cubicBezTo>
                  <a:lnTo>
                    <a:pt x="203200" y="616745"/>
                  </a:lnTo>
                  <a:cubicBezTo>
                    <a:pt x="90976" y="616745"/>
                    <a:pt x="0" y="478682"/>
                    <a:pt x="0" y="308372"/>
                  </a:cubicBezTo>
                  <a:cubicBezTo>
                    <a:pt x="0" y="138063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4113468" cy="673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aphicFrame>
        <p:nvGraphicFramePr>
          <p:cNvPr name="Table 26" id="26"/>
          <p:cNvGraphicFramePr>
            <a:graphicFrameLocks noGrp="true"/>
          </p:cNvGraphicFramePr>
          <p:nvPr/>
        </p:nvGraphicFramePr>
        <p:xfrm>
          <a:off x="9877637" y="5913372"/>
          <a:ext cx="7315200" cy="259080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12277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b="true" sz="2099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Random Forest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01D89">
                            <a:alpha val="100000"/>
                          </a:srgbClr>
                        </a:gs>
                        <a:gs pos="100000">
                          <a:srgbClr val="D2689C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b="true" sz="20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Decision Tree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01D89">
                            <a:alpha val="100000"/>
                          </a:srgbClr>
                        </a:gs>
                        <a:gs pos="100000">
                          <a:srgbClr val="D2689C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b="true" sz="20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Logistic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01D89">
                            <a:alpha val="100000"/>
                          </a:srgbClr>
                        </a:gs>
                        <a:gs pos="100000">
                          <a:srgbClr val="D2689C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  <a:tr h="649885">
                <a:tc rowSpan="2"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b="true" sz="22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n_estimators</a:t>
                      </a:r>
                      <a:endParaRPr lang="en-US" sz="1100"/>
                    </a:p>
                    <a:p>
                      <a:pPr algn="ctr">
                        <a:lnSpc>
                          <a:spcPts val="3219"/>
                        </a:lnSpc>
                      </a:pPr>
                      <a:r>
                        <a:rPr lang="en-US" b="true" sz="22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=100–200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01D89">
                            <a:alpha val="100000"/>
                          </a:srgbClr>
                        </a:gs>
                        <a:gs pos="100000">
                          <a:srgbClr val="D2689C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 rowSpan="2">
                  <a:txBody>
                    <a:bodyPr anchor="t" rtlCol="false"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b="true" sz="16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max_depth = 8–15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01D89">
                            <a:alpha val="100000"/>
                          </a:srgbClr>
                        </a:gs>
                        <a:gs pos="100000">
                          <a:srgbClr val="D2689C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 rowSpan="2">
                  <a:txBody>
                    <a:bodyPr anchor="t" rtlCol="false"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b="true" sz="16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 = 1.0 </a:t>
                      </a:r>
                      <a:endParaRPr lang="en-US" sz="1100"/>
                    </a:p>
                    <a:p>
                      <a:pPr algn="ctr">
                        <a:lnSpc>
                          <a:spcPts val="2379"/>
                        </a:lnSpc>
                      </a:pPr>
                      <a:r>
                        <a:rPr lang="en-US" b="true" sz="16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default + regularization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01D89">
                            <a:alpha val="100000"/>
                          </a:srgbClr>
                        </a:gs>
                        <a:gs pos="100000">
                          <a:srgbClr val="D2689C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  <a:tr h="713185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b="true" sz="22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n_estimators</a:t>
                      </a:r>
                      <a:endParaRPr lang="en-US" sz="1100"/>
                    </a:p>
                    <a:p>
                      <a:pPr algn="ctr">
                        <a:lnSpc>
                          <a:spcPts val="3219"/>
                        </a:lnSpc>
                      </a:pPr>
                      <a:r>
                        <a:rPr lang="en-US" b="true" sz="22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=100–200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01D89">
                            <a:alpha val="100000"/>
                          </a:srgbClr>
                        </a:gs>
                        <a:gs pos="100000">
                          <a:srgbClr val="D2689C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b="true" sz="16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max_depth = 8–15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01D89">
                            <a:alpha val="100000"/>
                          </a:srgbClr>
                        </a:gs>
                        <a:gs pos="100000">
                          <a:srgbClr val="D2689C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b="true" sz="16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 = 1.0 </a:t>
                      </a:r>
                      <a:endParaRPr lang="en-US" sz="1100"/>
                    </a:p>
                    <a:p>
                      <a:pPr algn="ctr">
                        <a:lnSpc>
                          <a:spcPts val="2379"/>
                        </a:lnSpc>
                      </a:pPr>
                      <a:r>
                        <a:rPr lang="en-US" b="true" sz="16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default + regularization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01D89">
                            <a:alpha val="100000"/>
                          </a:srgbClr>
                        </a:gs>
                        <a:gs pos="100000">
                          <a:srgbClr val="D2689C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</a:tbl>
          </a:graphicData>
        </a:graphic>
      </p:graphicFrame>
      <p:sp>
        <p:nvSpPr>
          <p:cNvPr name="TextBox 27" id="27"/>
          <p:cNvSpPr txBox="true"/>
          <p:nvPr/>
        </p:nvSpPr>
        <p:spPr>
          <a:xfrm rot="0">
            <a:off x="126028" y="972448"/>
            <a:ext cx="6179482" cy="176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89"/>
              </a:lnSpc>
            </a:pPr>
            <a:r>
              <a:rPr lang="en-US" sz="69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</a:t>
            </a:r>
            <a:r>
              <a:rPr lang="en-US" sz="69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odels Used</a:t>
            </a:r>
          </a:p>
          <a:p>
            <a:pPr algn="r">
              <a:lnSpc>
                <a:spcPts val="678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2720939" y="2834268"/>
            <a:ext cx="2669103" cy="1447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3"/>
              </a:lnSpc>
            </a:pPr>
            <a:r>
              <a:rPr lang="en-US" b="true" sz="3900" i="true">
                <a:solidFill>
                  <a:srgbClr val="FFFFFF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Logistic Regr</a:t>
            </a:r>
            <a:r>
              <a:rPr lang="en-US" b="true" sz="3900" i="true">
                <a:solidFill>
                  <a:srgbClr val="FFFFFF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ession</a:t>
            </a:r>
          </a:p>
          <a:p>
            <a:pPr algn="ctr">
              <a:lnSpc>
                <a:spcPts val="3783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6151810" y="2981652"/>
            <a:ext cx="2669103" cy="1447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3"/>
              </a:lnSpc>
            </a:pPr>
            <a:r>
              <a:rPr lang="en-US" b="true" sz="3900" i="true">
                <a:solidFill>
                  <a:srgbClr val="FFFFFF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De</a:t>
            </a:r>
            <a:r>
              <a:rPr lang="en-US" b="true" sz="3900" i="true">
                <a:solidFill>
                  <a:srgbClr val="FFFFFF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cision Tree</a:t>
            </a:r>
          </a:p>
          <a:p>
            <a:pPr algn="ctr">
              <a:lnSpc>
                <a:spcPts val="3783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8926532" y="2981652"/>
            <a:ext cx="2669103" cy="1447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3"/>
              </a:lnSpc>
            </a:pPr>
            <a:r>
              <a:rPr lang="en-US" b="true" sz="3900" i="true">
                <a:solidFill>
                  <a:srgbClr val="FFFFFF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Random Forest</a:t>
            </a:r>
          </a:p>
          <a:p>
            <a:pPr algn="ctr">
              <a:lnSpc>
                <a:spcPts val="3783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2247194" y="3197560"/>
            <a:ext cx="2009528" cy="49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3"/>
              </a:lnSpc>
            </a:pPr>
            <a:r>
              <a:rPr lang="en-US" b="true" sz="3900" i="true">
                <a:solidFill>
                  <a:srgbClr val="FFFFFF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Testing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73151" y="4937869"/>
            <a:ext cx="5667748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Train/test split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577878" y="4974083"/>
            <a:ext cx="5914718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Hyperparameters</a:t>
            </a:r>
          </a:p>
        </p:txBody>
      </p:sp>
      <p:graphicFrame>
        <p:nvGraphicFramePr>
          <p:cNvPr name="Table 34" id="34"/>
          <p:cNvGraphicFramePr>
            <a:graphicFrameLocks noGrp="true"/>
          </p:cNvGraphicFramePr>
          <p:nvPr/>
        </p:nvGraphicFramePr>
        <p:xfrm>
          <a:off x="573151" y="7474059"/>
          <a:ext cx="2642618" cy="1247775"/>
        </p:xfrm>
        <a:graphic>
          <a:graphicData uri="http://schemas.openxmlformats.org/drawingml/2006/table">
            <a:tbl>
              <a:tblPr/>
              <a:tblGrid>
                <a:gridCol w="2642618"/>
              </a:tblGrid>
              <a:tr h="12477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63% not </a:t>
                      </a:r>
                      <a:r>
                        <a:rPr lang="en-US" b="true" sz="20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canceled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01D89">
                            <a:alpha val="100000"/>
                          </a:srgbClr>
                        </a:gs>
                        <a:gs pos="100000">
                          <a:srgbClr val="D2689C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</a:tbl>
          </a:graphicData>
        </a:graphic>
      </p:graphicFrame>
      <p:graphicFrame>
        <p:nvGraphicFramePr>
          <p:cNvPr name="Table 35" id="35"/>
          <p:cNvGraphicFramePr>
            <a:graphicFrameLocks noGrp="true"/>
          </p:cNvGraphicFramePr>
          <p:nvPr/>
        </p:nvGraphicFramePr>
        <p:xfrm>
          <a:off x="3604923" y="7474059"/>
          <a:ext cx="2635976" cy="1247775"/>
        </p:xfrm>
        <a:graphic>
          <a:graphicData uri="http://schemas.openxmlformats.org/drawingml/2006/table">
            <a:tbl>
              <a:tblPr/>
              <a:tblGrid>
                <a:gridCol w="2635976"/>
              </a:tblGrid>
              <a:tr h="12477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37% </a:t>
                      </a:r>
                      <a:r>
                        <a:rPr lang="en-US" b="true" sz="20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canceled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01D89">
                            <a:alpha val="100000"/>
                          </a:srgbClr>
                        </a:gs>
                        <a:gs pos="100000">
                          <a:srgbClr val="D2689C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</a:tbl>
          </a:graphicData>
        </a:graphic>
      </p:graphicFrame>
      <p:graphicFrame>
        <p:nvGraphicFramePr>
          <p:cNvPr name="Table 36" id="36"/>
          <p:cNvGraphicFramePr>
            <a:graphicFrameLocks noGrp="true"/>
          </p:cNvGraphicFramePr>
          <p:nvPr/>
        </p:nvGraphicFramePr>
        <p:xfrm>
          <a:off x="943225" y="6140559"/>
          <a:ext cx="2463800" cy="1247775"/>
        </p:xfrm>
        <a:graphic>
          <a:graphicData uri="http://schemas.openxmlformats.org/drawingml/2006/table">
            <a:tbl>
              <a:tblPr/>
              <a:tblGrid>
                <a:gridCol w="2463800"/>
              </a:tblGrid>
              <a:tr h="12477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20% T</a:t>
                      </a:r>
                      <a:r>
                        <a:rPr lang="en-US" b="true" sz="20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01D89">
                            <a:alpha val="100000"/>
                          </a:srgbClr>
                        </a:gs>
                        <a:gs pos="100000">
                          <a:srgbClr val="D2689C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</a:tbl>
          </a:graphicData>
        </a:graphic>
      </p:graphicFrame>
      <p:graphicFrame>
        <p:nvGraphicFramePr>
          <p:cNvPr name="Table 37" id="37"/>
          <p:cNvGraphicFramePr>
            <a:graphicFrameLocks noGrp="true"/>
          </p:cNvGraphicFramePr>
          <p:nvPr/>
        </p:nvGraphicFramePr>
        <p:xfrm>
          <a:off x="3407438" y="6140559"/>
          <a:ext cx="2463800" cy="1247775"/>
        </p:xfrm>
        <a:graphic>
          <a:graphicData uri="http://schemas.openxmlformats.org/drawingml/2006/table">
            <a:tbl>
              <a:tblPr/>
              <a:tblGrid>
                <a:gridCol w="2463800"/>
              </a:tblGrid>
              <a:tr h="12477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0% Tr</a:t>
                      </a:r>
                      <a:r>
                        <a:rPr lang="en-US" b="true" sz="20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ain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01D89">
                            <a:alpha val="100000"/>
                          </a:srgbClr>
                        </a:gs>
                        <a:gs pos="100000">
                          <a:srgbClr val="D2689C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</a:tbl>
          </a:graphicData>
        </a:graphic>
      </p:graphicFrame>
      <p:sp>
        <p:nvSpPr>
          <p:cNvPr name="TextBox 38" id="38"/>
          <p:cNvSpPr txBox="true"/>
          <p:nvPr/>
        </p:nvSpPr>
        <p:spPr>
          <a:xfrm rot="0">
            <a:off x="573151" y="5324584"/>
            <a:ext cx="7950836" cy="81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</a:t>
            </a:r>
            <a:r>
              <a:rPr lang="en-US" sz="2499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tratified split due to class imbalance ~</a:t>
            </a:r>
          </a:p>
          <a:p>
            <a:pPr algn="l">
              <a:lnSpc>
                <a:spcPts val="324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344591">
            <a:off x="-3561422" y="5083187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20299770" y="0"/>
                </a:moveTo>
                <a:lnTo>
                  <a:pt x="0" y="0"/>
                </a:lnTo>
                <a:lnTo>
                  <a:pt x="0" y="6754288"/>
                </a:lnTo>
                <a:lnTo>
                  <a:pt x="20299770" y="6754288"/>
                </a:lnTo>
                <a:lnTo>
                  <a:pt x="2029977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04701" y="6789856"/>
            <a:ext cx="1216033" cy="2468444"/>
          </a:xfrm>
          <a:custGeom>
            <a:avLst/>
            <a:gdLst/>
            <a:ahLst/>
            <a:cxnLst/>
            <a:rect r="r" b="b" t="t" l="l"/>
            <a:pathLst>
              <a:path h="2468444" w="1216033">
                <a:moveTo>
                  <a:pt x="0" y="0"/>
                </a:moveTo>
                <a:lnTo>
                  <a:pt x="1216033" y="0"/>
                </a:lnTo>
                <a:lnTo>
                  <a:pt x="1216033" y="2468444"/>
                </a:lnTo>
                <a:lnTo>
                  <a:pt x="0" y="2468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5400000">
            <a:off x="17042963" y="6890516"/>
            <a:ext cx="2490075" cy="5054639"/>
          </a:xfrm>
          <a:custGeom>
            <a:avLst/>
            <a:gdLst/>
            <a:ahLst/>
            <a:cxnLst/>
            <a:rect r="r" b="b" t="t" l="l"/>
            <a:pathLst>
              <a:path h="5054639" w="2490075">
                <a:moveTo>
                  <a:pt x="2490074" y="0"/>
                </a:moveTo>
                <a:lnTo>
                  <a:pt x="0" y="0"/>
                </a:lnTo>
                <a:lnTo>
                  <a:pt x="0" y="5054639"/>
                </a:lnTo>
                <a:lnTo>
                  <a:pt x="2490074" y="5054639"/>
                </a:lnTo>
                <a:lnTo>
                  <a:pt x="2490074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171694">
            <a:off x="11249471" y="-3887171"/>
            <a:ext cx="6058172" cy="6069207"/>
          </a:xfrm>
          <a:custGeom>
            <a:avLst/>
            <a:gdLst/>
            <a:ahLst/>
            <a:cxnLst/>
            <a:rect r="r" b="b" t="t" l="l"/>
            <a:pathLst>
              <a:path h="6069207" w="6058172">
                <a:moveTo>
                  <a:pt x="0" y="0"/>
                </a:moveTo>
                <a:lnTo>
                  <a:pt x="6058172" y="0"/>
                </a:lnTo>
                <a:lnTo>
                  <a:pt x="6058172" y="6069206"/>
                </a:lnTo>
                <a:lnTo>
                  <a:pt x="0" y="6069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11332" y="4141160"/>
            <a:ext cx="7426541" cy="1726186"/>
            <a:chOff x="0" y="0"/>
            <a:chExt cx="2906720" cy="6756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06720" cy="675623"/>
            </a:xfrm>
            <a:custGeom>
              <a:avLst/>
              <a:gdLst/>
              <a:ahLst/>
              <a:cxnLst/>
              <a:rect r="r" b="b" t="t" l="l"/>
              <a:pathLst>
                <a:path h="675623" w="2906720">
                  <a:moveTo>
                    <a:pt x="2703520" y="0"/>
                  </a:moveTo>
                  <a:cubicBezTo>
                    <a:pt x="2815744" y="0"/>
                    <a:pt x="2906720" y="151243"/>
                    <a:pt x="2906720" y="337811"/>
                  </a:cubicBezTo>
                  <a:cubicBezTo>
                    <a:pt x="2906720" y="524379"/>
                    <a:pt x="2815744" y="675623"/>
                    <a:pt x="2703520" y="675623"/>
                  </a:cubicBezTo>
                  <a:lnTo>
                    <a:pt x="203200" y="675623"/>
                  </a:lnTo>
                  <a:cubicBezTo>
                    <a:pt x="90976" y="675623"/>
                    <a:pt x="0" y="524379"/>
                    <a:pt x="0" y="337811"/>
                  </a:cubicBezTo>
                  <a:cubicBezTo>
                    <a:pt x="0" y="151243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906720" cy="7327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590709" y="4004080"/>
            <a:ext cx="7426541" cy="1863265"/>
            <a:chOff x="0" y="0"/>
            <a:chExt cx="2906720" cy="7292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06720" cy="729275"/>
            </a:xfrm>
            <a:custGeom>
              <a:avLst/>
              <a:gdLst/>
              <a:ahLst/>
              <a:cxnLst/>
              <a:rect r="r" b="b" t="t" l="l"/>
              <a:pathLst>
                <a:path h="729275" w="2906720">
                  <a:moveTo>
                    <a:pt x="2703520" y="0"/>
                  </a:moveTo>
                  <a:cubicBezTo>
                    <a:pt x="2815744" y="0"/>
                    <a:pt x="2906720" y="163254"/>
                    <a:pt x="2906720" y="364637"/>
                  </a:cubicBezTo>
                  <a:cubicBezTo>
                    <a:pt x="2906720" y="566021"/>
                    <a:pt x="2815744" y="729275"/>
                    <a:pt x="2703520" y="729275"/>
                  </a:cubicBezTo>
                  <a:lnTo>
                    <a:pt x="203200" y="729275"/>
                  </a:lnTo>
                  <a:cubicBezTo>
                    <a:pt x="90976" y="729275"/>
                    <a:pt x="0" y="566021"/>
                    <a:pt x="0" y="364637"/>
                  </a:cubicBezTo>
                  <a:cubicBezTo>
                    <a:pt x="0" y="163254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906720" cy="786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11332" y="6724595"/>
            <a:ext cx="7426541" cy="1038334"/>
            <a:chOff x="0" y="0"/>
            <a:chExt cx="2906720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06720" cy="406400"/>
            </a:xfrm>
            <a:custGeom>
              <a:avLst/>
              <a:gdLst/>
              <a:ahLst/>
              <a:cxnLst/>
              <a:rect r="r" b="b" t="t" l="l"/>
              <a:pathLst>
                <a:path h="406400" w="2906720">
                  <a:moveTo>
                    <a:pt x="2703520" y="0"/>
                  </a:moveTo>
                  <a:cubicBezTo>
                    <a:pt x="2815744" y="0"/>
                    <a:pt x="2906720" y="90976"/>
                    <a:pt x="2906720" y="203200"/>
                  </a:cubicBezTo>
                  <a:cubicBezTo>
                    <a:pt x="2906720" y="315424"/>
                    <a:pt x="2815744" y="406400"/>
                    <a:pt x="270352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90672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90709" y="6724595"/>
            <a:ext cx="7426541" cy="1038334"/>
            <a:chOff x="0" y="0"/>
            <a:chExt cx="2906720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906720" cy="406400"/>
            </a:xfrm>
            <a:custGeom>
              <a:avLst/>
              <a:gdLst/>
              <a:ahLst/>
              <a:cxnLst/>
              <a:rect r="r" b="b" t="t" l="l"/>
              <a:pathLst>
                <a:path h="406400" w="2906720">
                  <a:moveTo>
                    <a:pt x="2703520" y="0"/>
                  </a:moveTo>
                  <a:cubicBezTo>
                    <a:pt x="2815744" y="0"/>
                    <a:pt x="2906720" y="90976"/>
                    <a:pt x="2906720" y="203200"/>
                  </a:cubicBezTo>
                  <a:cubicBezTo>
                    <a:pt x="2906720" y="315424"/>
                    <a:pt x="2815744" y="406400"/>
                    <a:pt x="270352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90672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1181100"/>
            <a:ext cx="6179482" cy="176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9"/>
              </a:lnSpc>
            </a:pPr>
            <a:r>
              <a:rPr lang="en-US" sz="69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</a:t>
            </a:r>
            <a:r>
              <a:rPr lang="en-US" sz="69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ools used</a:t>
            </a:r>
          </a:p>
          <a:p>
            <a:pPr algn="l">
              <a:lnSpc>
                <a:spcPts val="678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2088798"/>
            <a:ext cx="6179482" cy="90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9"/>
              </a:lnSpc>
            </a:pPr>
            <a:r>
              <a:rPr lang="en-US" sz="6999" b="true">
                <a:solidFill>
                  <a:srgbClr val="A94BC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In Project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41672" y="4346860"/>
            <a:ext cx="5080053" cy="1809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sz="2247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pandas</a:t>
            </a:r>
          </a:p>
          <a:p>
            <a:pPr algn="l">
              <a:lnSpc>
                <a:spcPts val="2921"/>
              </a:lnSpc>
            </a:pPr>
            <a:r>
              <a:rPr lang="en-US" sz="2247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</a:t>
            </a:r>
            <a:r>
              <a:rPr lang="en-US" sz="2247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seaborn</a:t>
            </a:r>
          </a:p>
          <a:p>
            <a:pPr algn="l">
              <a:lnSpc>
                <a:spcPts val="2921"/>
              </a:lnSpc>
            </a:pPr>
            <a:r>
              <a:rPr lang="en-US" sz="2247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SKlearn</a:t>
            </a:r>
          </a:p>
          <a:p>
            <a:pPr algn="l">
              <a:lnSpc>
                <a:spcPts val="2921"/>
              </a:lnSpc>
            </a:pPr>
            <a:r>
              <a:rPr lang="en-US" sz="2247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Numpy  for EDA</a:t>
            </a:r>
          </a:p>
          <a:p>
            <a:pPr algn="l">
              <a:lnSpc>
                <a:spcPts val="2921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3199596" y="4807511"/>
            <a:ext cx="4205462" cy="806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5"/>
              </a:lnSpc>
            </a:pPr>
            <a:r>
              <a:rPr lang="en-US" sz="2504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In clea</a:t>
            </a:r>
            <a:r>
              <a:rPr lang="en-US" sz="2504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ning &amp; queries</a:t>
            </a:r>
          </a:p>
          <a:p>
            <a:pPr algn="l">
              <a:lnSpc>
                <a:spcPts val="3255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3199596" y="6964807"/>
            <a:ext cx="3817654" cy="834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6"/>
              </a:lnSpc>
            </a:pPr>
            <a:r>
              <a:rPr lang="en-US" sz="2566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modeling &amp; </a:t>
            </a:r>
            <a:r>
              <a:rPr lang="en-US" sz="2566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evaluation</a:t>
            </a:r>
          </a:p>
          <a:p>
            <a:pPr algn="l">
              <a:lnSpc>
                <a:spcPts val="3336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4060670" y="6964807"/>
            <a:ext cx="6207278" cy="852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1"/>
              </a:lnSpc>
            </a:pPr>
            <a:r>
              <a:rPr lang="en-US" sz="2647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</a:t>
            </a:r>
            <a:r>
              <a:rPr lang="en-US" sz="2647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nsights &amp; dashboard</a:t>
            </a:r>
          </a:p>
          <a:p>
            <a:pPr algn="l">
              <a:lnSpc>
                <a:spcPts val="3441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811332" y="4538757"/>
            <a:ext cx="2603740" cy="115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3"/>
              </a:lnSpc>
            </a:pPr>
            <a:r>
              <a:rPr lang="en-US" sz="3316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Python</a:t>
            </a:r>
          </a:p>
          <a:p>
            <a:pPr algn="ctr">
              <a:lnSpc>
                <a:spcPts val="4643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9802503" y="4327810"/>
            <a:ext cx="2982087" cy="173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2"/>
              </a:lnSpc>
            </a:pPr>
            <a:r>
              <a:rPr lang="en-US" sz="2480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SQL Server Management Studio</a:t>
            </a:r>
          </a:p>
          <a:p>
            <a:pPr algn="ctr">
              <a:lnSpc>
                <a:spcPts val="3472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935655" y="6848891"/>
            <a:ext cx="2355093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Power BI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9488123" y="6848891"/>
            <a:ext cx="3045798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Orange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</a:p>
        </p:txBody>
      </p:sp>
      <p:grpSp>
        <p:nvGrpSpPr>
          <p:cNvPr name="Group 28" id="28"/>
          <p:cNvGrpSpPr/>
          <p:nvPr/>
        </p:nvGrpSpPr>
        <p:grpSpPr>
          <a:xfrm rot="0">
            <a:off x="2635549" y="8182639"/>
            <a:ext cx="12379344" cy="1353312"/>
            <a:chOff x="0" y="0"/>
            <a:chExt cx="10255979" cy="112118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55979" cy="1121185"/>
            </a:xfrm>
            <a:custGeom>
              <a:avLst/>
              <a:gdLst/>
              <a:ahLst/>
              <a:cxnLst/>
              <a:rect r="r" b="b" t="t" l="l"/>
              <a:pathLst>
                <a:path h="1121185" w="10255979">
                  <a:moveTo>
                    <a:pt x="10052779" y="0"/>
                  </a:moveTo>
                  <a:cubicBezTo>
                    <a:pt x="10165003" y="0"/>
                    <a:pt x="10255979" y="250986"/>
                    <a:pt x="10255979" y="560593"/>
                  </a:cubicBezTo>
                  <a:cubicBezTo>
                    <a:pt x="10255979" y="870200"/>
                    <a:pt x="10165003" y="1121185"/>
                    <a:pt x="10052779" y="1121185"/>
                  </a:cubicBezTo>
                  <a:lnTo>
                    <a:pt x="203200" y="1121185"/>
                  </a:lnTo>
                  <a:cubicBezTo>
                    <a:pt x="90976" y="1121185"/>
                    <a:pt x="0" y="870200"/>
                    <a:pt x="0" y="560593"/>
                  </a:cubicBezTo>
                  <a:cubicBezTo>
                    <a:pt x="0" y="25098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0255979" cy="1178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Random Forest achieved the best balance between precision and recall on imbalanced data</a:t>
              </a:r>
            </a:p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8979536" y="1696195"/>
            <a:ext cx="1971810" cy="240202"/>
          </a:xfrm>
          <a:custGeom>
            <a:avLst/>
            <a:gdLst/>
            <a:ahLst/>
            <a:cxnLst/>
            <a:rect r="r" b="b" t="t" l="l"/>
            <a:pathLst>
              <a:path h="240202" w="1971810">
                <a:moveTo>
                  <a:pt x="0" y="0"/>
                </a:moveTo>
                <a:lnTo>
                  <a:pt x="1971810" y="0"/>
                </a:lnTo>
                <a:lnTo>
                  <a:pt x="1971810" y="240203"/>
                </a:lnTo>
                <a:lnTo>
                  <a:pt x="0" y="2402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859737">
            <a:off x="3121357" y="4914121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16439008" y="7391920"/>
            <a:ext cx="2220593" cy="4507614"/>
          </a:xfrm>
          <a:custGeom>
            <a:avLst/>
            <a:gdLst/>
            <a:ahLst/>
            <a:cxnLst/>
            <a:rect r="r" b="b" t="t" l="l"/>
            <a:pathLst>
              <a:path h="4507614" w="2220593">
                <a:moveTo>
                  <a:pt x="2220592" y="0"/>
                </a:moveTo>
                <a:lnTo>
                  <a:pt x="0" y="0"/>
                </a:lnTo>
                <a:lnTo>
                  <a:pt x="0" y="4507613"/>
                </a:lnTo>
                <a:lnTo>
                  <a:pt x="2220592" y="4507613"/>
                </a:lnTo>
                <a:lnTo>
                  <a:pt x="2220592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0000">
            <a:off x="-279147" y="-1633942"/>
            <a:ext cx="2490075" cy="5054639"/>
          </a:xfrm>
          <a:custGeom>
            <a:avLst/>
            <a:gdLst/>
            <a:ahLst/>
            <a:cxnLst/>
            <a:rect r="r" b="b" t="t" l="l"/>
            <a:pathLst>
              <a:path h="5054639" w="2490075">
                <a:moveTo>
                  <a:pt x="0" y="5054639"/>
                </a:moveTo>
                <a:lnTo>
                  <a:pt x="2490075" y="5054639"/>
                </a:lnTo>
                <a:lnTo>
                  <a:pt x="2490075" y="0"/>
                </a:lnTo>
                <a:lnTo>
                  <a:pt x="0" y="0"/>
                </a:lnTo>
                <a:lnTo>
                  <a:pt x="0" y="5054639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079818" y="1181100"/>
            <a:ext cx="6179482" cy="176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89"/>
              </a:lnSpc>
            </a:pPr>
            <a:r>
              <a:rPr lang="en-US" sz="69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</a:t>
            </a:r>
            <a:r>
              <a:rPr lang="en-US" sz="69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esults</a:t>
            </a:r>
          </a:p>
          <a:p>
            <a:pPr algn="r">
              <a:lnSpc>
                <a:spcPts val="678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805912" y="2088798"/>
            <a:ext cx="9453388" cy="90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89"/>
              </a:lnSpc>
            </a:pPr>
            <a:r>
              <a:rPr lang="en-US" b="true" sz="6999">
                <a:solidFill>
                  <a:srgbClr val="A94BC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For Training Models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36796" y="3581660"/>
            <a:ext cx="6068894" cy="958475"/>
            <a:chOff x="0" y="0"/>
            <a:chExt cx="5974608" cy="9435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974608" cy="943584"/>
            </a:xfrm>
            <a:custGeom>
              <a:avLst/>
              <a:gdLst/>
              <a:ahLst/>
              <a:cxnLst/>
              <a:rect r="r" b="b" t="t" l="l"/>
              <a:pathLst>
                <a:path h="943584" w="5974608">
                  <a:moveTo>
                    <a:pt x="5771408" y="0"/>
                  </a:moveTo>
                  <a:cubicBezTo>
                    <a:pt x="5883632" y="0"/>
                    <a:pt x="5974608" y="211229"/>
                    <a:pt x="5974608" y="471792"/>
                  </a:cubicBezTo>
                  <a:cubicBezTo>
                    <a:pt x="5974608" y="732356"/>
                    <a:pt x="5883632" y="943584"/>
                    <a:pt x="5771408" y="943584"/>
                  </a:cubicBezTo>
                  <a:lnTo>
                    <a:pt x="203200" y="943584"/>
                  </a:lnTo>
                  <a:cubicBezTo>
                    <a:pt x="90976" y="943584"/>
                    <a:pt x="0" y="732356"/>
                    <a:pt x="0" y="471792"/>
                  </a:cubicBezTo>
                  <a:cubicBezTo>
                    <a:pt x="0" y="211229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5974608" cy="1000734"/>
            </a:xfrm>
            <a:prstGeom prst="rect">
              <a:avLst/>
            </a:prstGeom>
          </p:spPr>
          <p:txBody>
            <a:bodyPr anchor="ctr" rtlCol="false" tIns="28050" lIns="28050" bIns="28050" rIns="28050"/>
            <a:lstStyle/>
            <a:p>
              <a:pPr algn="ctr">
                <a:lnSpc>
                  <a:spcPts val="3779"/>
                </a:lnSpc>
              </a:pPr>
              <a:r>
                <a:rPr lang="en-US" sz="2700" b="true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Accuracy</a:t>
              </a:r>
            </a:p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491857" y="4873341"/>
            <a:ext cx="5558771" cy="684786"/>
            <a:chOff x="0" y="0"/>
            <a:chExt cx="7411695" cy="91304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7411695" cy="913048"/>
              <a:chOff x="0" y="0"/>
              <a:chExt cx="3298963" cy="4064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298963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298963">
                    <a:moveTo>
                      <a:pt x="3095763" y="0"/>
                    </a:moveTo>
                    <a:cubicBezTo>
                      <a:pt x="3207987" y="0"/>
                      <a:pt x="3298963" y="90976"/>
                      <a:pt x="3298963" y="203200"/>
                    </a:cubicBezTo>
                    <a:cubicBezTo>
                      <a:pt x="3298963" y="315424"/>
                      <a:pt x="3207987" y="406400"/>
                      <a:pt x="3095763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431F8A">
                      <a:alpha val="100000"/>
                    </a:srgbClr>
                  </a:gs>
                  <a:gs pos="100000">
                    <a:srgbClr val="6A2E9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57150"/>
                <a:ext cx="3298963" cy="463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332579" y="208565"/>
              <a:ext cx="58162" cy="5721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0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03107" y="5891333"/>
            <a:ext cx="4736355" cy="583473"/>
            <a:chOff x="0" y="0"/>
            <a:chExt cx="3298963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98963" cy="406400"/>
            </a:xfrm>
            <a:custGeom>
              <a:avLst/>
              <a:gdLst/>
              <a:ahLst/>
              <a:cxnLst/>
              <a:rect r="r" b="b" t="t" l="l"/>
              <a:pathLst>
                <a:path h="406400" w="3298963">
                  <a:moveTo>
                    <a:pt x="3095763" y="0"/>
                  </a:moveTo>
                  <a:cubicBezTo>
                    <a:pt x="3207987" y="0"/>
                    <a:pt x="3298963" y="90976"/>
                    <a:pt x="3298963" y="203200"/>
                  </a:cubicBezTo>
                  <a:cubicBezTo>
                    <a:pt x="3298963" y="315424"/>
                    <a:pt x="3207987" y="406400"/>
                    <a:pt x="309576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298963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511672" y="3581660"/>
            <a:ext cx="747628" cy="74762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511672" y="4741944"/>
            <a:ext cx="747628" cy="747628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6670880" y="3756710"/>
            <a:ext cx="429212" cy="397529"/>
          </a:xfrm>
          <a:custGeom>
            <a:avLst/>
            <a:gdLst/>
            <a:ahLst/>
            <a:cxnLst/>
            <a:rect r="r" b="b" t="t" l="l"/>
            <a:pathLst>
              <a:path h="397529" w="429212">
                <a:moveTo>
                  <a:pt x="0" y="0"/>
                </a:moveTo>
                <a:lnTo>
                  <a:pt x="429212" y="0"/>
                </a:lnTo>
                <a:lnTo>
                  <a:pt x="429212" y="397529"/>
                </a:lnTo>
                <a:lnTo>
                  <a:pt x="0" y="3975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6670880" y="4916993"/>
            <a:ext cx="429212" cy="397529"/>
          </a:xfrm>
          <a:custGeom>
            <a:avLst/>
            <a:gdLst/>
            <a:ahLst/>
            <a:cxnLst/>
            <a:rect r="r" b="b" t="t" l="l"/>
            <a:pathLst>
              <a:path h="397529" w="429212">
                <a:moveTo>
                  <a:pt x="0" y="0"/>
                </a:moveTo>
                <a:lnTo>
                  <a:pt x="429212" y="0"/>
                </a:lnTo>
                <a:lnTo>
                  <a:pt x="429212" y="397529"/>
                </a:lnTo>
                <a:lnTo>
                  <a:pt x="0" y="3975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6511672" y="5902227"/>
            <a:ext cx="747628" cy="747628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6670880" y="6077277"/>
            <a:ext cx="429212" cy="397529"/>
          </a:xfrm>
          <a:custGeom>
            <a:avLst/>
            <a:gdLst/>
            <a:ahLst/>
            <a:cxnLst/>
            <a:rect r="r" b="b" t="t" l="l"/>
            <a:pathLst>
              <a:path h="397529" w="429212">
                <a:moveTo>
                  <a:pt x="0" y="0"/>
                </a:moveTo>
                <a:lnTo>
                  <a:pt x="429212" y="0"/>
                </a:lnTo>
                <a:lnTo>
                  <a:pt x="429212" y="397529"/>
                </a:lnTo>
                <a:lnTo>
                  <a:pt x="0" y="3975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10800000">
            <a:off x="5504136" y="-4573010"/>
            <a:ext cx="6058172" cy="6069207"/>
          </a:xfrm>
          <a:custGeom>
            <a:avLst/>
            <a:gdLst/>
            <a:ahLst/>
            <a:cxnLst/>
            <a:rect r="r" b="b" t="t" l="l"/>
            <a:pathLst>
              <a:path h="6069207" w="6058172">
                <a:moveTo>
                  <a:pt x="0" y="0"/>
                </a:moveTo>
                <a:lnTo>
                  <a:pt x="6058172" y="0"/>
                </a:lnTo>
                <a:lnTo>
                  <a:pt x="6058172" y="6069206"/>
                </a:lnTo>
                <a:lnTo>
                  <a:pt x="0" y="60692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3532326" y="1850218"/>
            <a:ext cx="1971810" cy="240202"/>
          </a:xfrm>
          <a:custGeom>
            <a:avLst/>
            <a:gdLst/>
            <a:ahLst/>
            <a:cxnLst/>
            <a:rect r="r" b="b" t="t" l="l"/>
            <a:pathLst>
              <a:path h="240202" w="1971810">
                <a:moveTo>
                  <a:pt x="0" y="0"/>
                </a:moveTo>
                <a:lnTo>
                  <a:pt x="1971810" y="0"/>
                </a:lnTo>
                <a:lnTo>
                  <a:pt x="1971810" y="240202"/>
                </a:lnTo>
                <a:lnTo>
                  <a:pt x="0" y="2402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442476" y="8682777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06388" r="-103152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1288065" y="4921135"/>
            <a:ext cx="396635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Precision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968871" y="5859537"/>
            <a:ext cx="2604825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Recall</a:t>
            </a:r>
          </a:p>
        </p:txBody>
      </p:sp>
      <p:graphicFrame>
        <p:nvGraphicFramePr>
          <p:cNvPr name="Table 35" id="35"/>
          <p:cNvGraphicFramePr>
            <a:graphicFrameLocks noGrp="true"/>
          </p:cNvGraphicFramePr>
          <p:nvPr/>
        </p:nvGraphicFramePr>
        <p:xfrm>
          <a:off x="1028700" y="3581660"/>
          <a:ext cx="7315200" cy="2899906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1602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b="true" sz="2099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Random Forest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01D89">
                            <a:alpha val="100000"/>
                          </a:srgbClr>
                        </a:gs>
                        <a:gs pos="100000">
                          <a:srgbClr val="D2689C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</a:t>
                      </a:r>
                      <a:r>
                        <a:rPr lang="en-US" b="true" sz="20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b="true" sz="20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Accuracy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01D89">
                            <a:alpha val="100000"/>
                          </a:srgbClr>
                        </a:gs>
                        <a:gs pos="100000">
                          <a:srgbClr val="D2689C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~91–92%</a:t>
                      </a:r>
                      <a:r>
                        <a:rPr lang="en-US" b="true" sz="20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Accuracy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01D89">
                            <a:alpha val="100000"/>
                          </a:srgbClr>
                        </a:gs>
                        <a:gs pos="100000">
                          <a:srgbClr val="D2689C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  <a:tr h="648853">
                <a:tc rowSpan="2"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</a:t>
                      </a:r>
                      <a:r>
                        <a:rPr lang="en-US" b="true" sz="22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ecision</a:t>
                      </a:r>
                      <a:endParaRPr lang="en-US" sz="1100"/>
                    </a:p>
                    <a:p>
                      <a:pPr algn="ctr">
                        <a:lnSpc>
                          <a:spcPts val="321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01D89">
                            <a:alpha val="100000"/>
                          </a:srgbClr>
                        </a:gs>
                        <a:gs pos="100000">
                          <a:srgbClr val="D2689C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 rowSpan="2">
                  <a:txBody>
                    <a:bodyPr anchor="t" rtlCol="false"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</a:t>
                      </a:r>
                      <a:r>
                        <a:rPr lang="en-US" b="true" sz="16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anceled</a:t>
                      </a:r>
                      <a:endParaRPr lang="en-US" sz="1100"/>
                    </a:p>
                    <a:p>
                      <a:pPr algn="ctr">
                        <a:lnSpc>
                          <a:spcPts val="237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01D89">
                            <a:alpha val="100000"/>
                          </a:srgbClr>
                        </a:gs>
                        <a:gs pos="100000">
                          <a:srgbClr val="D2689C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 rowSpan="2">
                  <a:txBody>
                    <a:bodyPr anchor="t" rtlCol="false"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~88–9</a:t>
                      </a:r>
                      <a:r>
                        <a:rPr lang="en-US" b="true" sz="16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0%</a:t>
                      </a:r>
                      <a:endParaRPr lang="en-US" sz="1100"/>
                    </a:p>
                    <a:p>
                      <a:pPr algn="ctr">
                        <a:lnSpc>
                          <a:spcPts val="237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01D89">
                            <a:alpha val="100000"/>
                          </a:srgbClr>
                        </a:gs>
                        <a:gs pos="100000">
                          <a:srgbClr val="D2689C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  <a:tr h="648853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</a:t>
                      </a:r>
                      <a:r>
                        <a:rPr lang="en-US" b="true" sz="22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ecision</a:t>
                      </a:r>
                      <a:endParaRPr lang="en-US" sz="1100"/>
                    </a:p>
                    <a:p>
                      <a:pPr algn="ctr">
                        <a:lnSpc>
                          <a:spcPts val="321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01D89">
                            <a:alpha val="100000"/>
                          </a:srgbClr>
                        </a:gs>
                        <a:gs pos="100000">
                          <a:srgbClr val="D2689C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</a:t>
                      </a:r>
                      <a:r>
                        <a:rPr lang="en-US" b="true" sz="16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anceled</a:t>
                      </a:r>
                      <a:endParaRPr lang="en-US" sz="1100"/>
                    </a:p>
                    <a:p>
                      <a:pPr algn="ctr">
                        <a:lnSpc>
                          <a:spcPts val="237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01D89">
                            <a:alpha val="100000"/>
                          </a:srgbClr>
                        </a:gs>
                        <a:gs pos="100000">
                          <a:srgbClr val="D2689C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~88–9</a:t>
                      </a:r>
                      <a:r>
                        <a:rPr lang="en-US" b="true" sz="16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0%</a:t>
                      </a:r>
                      <a:endParaRPr lang="en-US" sz="1100"/>
                    </a:p>
                    <a:p>
                      <a:pPr algn="ctr">
                        <a:lnSpc>
                          <a:spcPts val="237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01D89">
                            <a:alpha val="100000"/>
                          </a:srgbClr>
                        </a:gs>
                        <a:gs pos="100000">
                          <a:srgbClr val="D2689C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</a:tbl>
          </a:graphicData>
        </a:graphic>
      </p:graphicFrame>
      <p:graphicFrame>
        <p:nvGraphicFramePr>
          <p:cNvPr name="Table 36" id="36"/>
          <p:cNvGraphicFramePr>
            <a:graphicFrameLocks noGrp="true"/>
          </p:cNvGraphicFramePr>
          <p:nvPr/>
        </p:nvGraphicFramePr>
        <p:xfrm>
          <a:off x="1028700" y="6481566"/>
          <a:ext cx="7315200" cy="1614781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16147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b="true" sz="2099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Recall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01D89">
                            <a:alpha val="100000"/>
                          </a:srgbClr>
                        </a:gs>
                        <a:gs pos="100000">
                          <a:srgbClr val="D2689C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</a:t>
                      </a:r>
                      <a:r>
                        <a:rPr lang="en-US" b="true" sz="20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20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  <a:r>
                        <a:rPr lang="en-US" b="true" sz="20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</a:t>
                      </a:r>
                      <a:r>
                        <a:rPr lang="en-US" b="true" sz="20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eled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01D89">
                            <a:alpha val="100000"/>
                          </a:srgbClr>
                        </a:gs>
                        <a:gs pos="100000">
                          <a:srgbClr val="D2689C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~82–86%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01D89">
                            <a:alpha val="100000"/>
                          </a:srgbClr>
                        </a:gs>
                        <a:gs pos="100000">
                          <a:srgbClr val="D2689C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864831">
            <a:off x="-4417390" y="3090391"/>
            <a:ext cx="21822962" cy="7261095"/>
          </a:xfrm>
          <a:custGeom>
            <a:avLst/>
            <a:gdLst/>
            <a:ahLst/>
            <a:cxnLst/>
            <a:rect r="r" b="b" t="t" l="l"/>
            <a:pathLst>
              <a:path h="7261095" w="21822962">
                <a:moveTo>
                  <a:pt x="21822962" y="0"/>
                </a:moveTo>
                <a:lnTo>
                  <a:pt x="0" y="0"/>
                </a:lnTo>
                <a:lnTo>
                  <a:pt x="0" y="7261095"/>
                </a:lnTo>
                <a:lnTo>
                  <a:pt x="21822962" y="7261095"/>
                </a:lnTo>
                <a:lnTo>
                  <a:pt x="21822962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7055059" y="1028700"/>
            <a:ext cx="1675621" cy="3401366"/>
          </a:xfrm>
          <a:custGeom>
            <a:avLst/>
            <a:gdLst/>
            <a:ahLst/>
            <a:cxnLst/>
            <a:rect r="r" b="b" t="t" l="l"/>
            <a:pathLst>
              <a:path h="3401366" w="1675621">
                <a:moveTo>
                  <a:pt x="1675621" y="0"/>
                </a:moveTo>
                <a:lnTo>
                  <a:pt x="0" y="0"/>
                </a:lnTo>
                <a:lnTo>
                  <a:pt x="0" y="3401366"/>
                </a:lnTo>
                <a:lnTo>
                  <a:pt x="1675621" y="3401366"/>
                </a:lnTo>
                <a:lnTo>
                  <a:pt x="167562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73490" y="1028700"/>
            <a:ext cx="1675621" cy="3401366"/>
          </a:xfrm>
          <a:custGeom>
            <a:avLst/>
            <a:gdLst/>
            <a:ahLst/>
            <a:cxnLst/>
            <a:rect r="r" b="b" t="t" l="l"/>
            <a:pathLst>
              <a:path h="3401366" w="1675621">
                <a:moveTo>
                  <a:pt x="0" y="0"/>
                </a:moveTo>
                <a:lnTo>
                  <a:pt x="1675621" y="0"/>
                </a:lnTo>
                <a:lnTo>
                  <a:pt x="1675621" y="3401366"/>
                </a:lnTo>
                <a:lnTo>
                  <a:pt x="0" y="34013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2972163" y="-4028288"/>
            <a:ext cx="5211566" cy="5221059"/>
          </a:xfrm>
          <a:custGeom>
            <a:avLst/>
            <a:gdLst/>
            <a:ahLst/>
            <a:cxnLst/>
            <a:rect r="r" b="b" t="t" l="l"/>
            <a:pathLst>
              <a:path h="5221059" w="5211566">
                <a:moveTo>
                  <a:pt x="0" y="0"/>
                </a:moveTo>
                <a:lnTo>
                  <a:pt x="5211566" y="0"/>
                </a:lnTo>
                <a:lnTo>
                  <a:pt x="5211566" y="5221059"/>
                </a:lnTo>
                <a:lnTo>
                  <a:pt x="0" y="52210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073490" y="9486900"/>
            <a:ext cx="5211566" cy="5221059"/>
          </a:xfrm>
          <a:custGeom>
            <a:avLst/>
            <a:gdLst/>
            <a:ahLst/>
            <a:cxnLst/>
            <a:rect r="r" b="b" t="t" l="l"/>
            <a:pathLst>
              <a:path h="5221059" w="5211566">
                <a:moveTo>
                  <a:pt x="0" y="0"/>
                </a:moveTo>
                <a:lnTo>
                  <a:pt x="5211566" y="0"/>
                </a:lnTo>
                <a:lnTo>
                  <a:pt x="5211566" y="5221059"/>
                </a:lnTo>
                <a:lnTo>
                  <a:pt x="0" y="52210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96837" y="3478999"/>
            <a:ext cx="2859178" cy="3732778"/>
            <a:chOff x="0" y="0"/>
            <a:chExt cx="753035" cy="9831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3035" cy="983119"/>
            </a:xfrm>
            <a:custGeom>
              <a:avLst/>
              <a:gdLst/>
              <a:ahLst/>
              <a:cxnLst/>
              <a:rect r="r" b="b" t="t" l="l"/>
              <a:pathLst>
                <a:path h="983119" w="753035">
                  <a:moveTo>
                    <a:pt x="46032" y="0"/>
                  </a:moveTo>
                  <a:lnTo>
                    <a:pt x="707003" y="0"/>
                  </a:lnTo>
                  <a:cubicBezTo>
                    <a:pt x="719211" y="0"/>
                    <a:pt x="730920" y="4850"/>
                    <a:pt x="739552" y="13482"/>
                  </a:cubicBezTo>
                  <a:cubicBezTo>
                    <a:pt x="748185" y="22115"/>
                    <a:pt x="753035" y="33823"/>
                    <a:pt x="753035" y="46032"/>
                  </a:cubicBezTo>
                  <a:lnTo>
                    <a:pt x="753035" y="937087"/>
                  </a:lnTo>
                  <a:cubicBezTo>
                    <a:pt x="753035" y="949295"/>
                    <a:pt x="748185" y="961004"/>
                    <a:pt x="739552" y="969636"/>
                  </a:cubicBezTo>
                  <a:cubicBezTo>
                    <a:pt x="730920" y="978269"/>
                    <a:pt x="719211" y="983119"/>
                    <a:pt x="707003" y="983119"/>
                  </a:cubicBezTo>
                  <a:lnTo>
                    <a:pt x="46032" y="983119"/>
                  </a:lnTo>
                  <a:cubicBezTo>
                    <a:pt x="33823" y="983119"/>
                    <a:pt x="22115" y="978269"/>
                    <a:pt x="13482" y="969636"/>
                  </a:cubicBezTo>
                  <a:cubicBezTo>
                    <a:pt x="4850" y="961004"/>
                    <a:pt x="0" y="949295"/>
                    <a:pt x="0" y="937087"/>
                  </a:cubicBezTo>
                  <a:lnTo>
                    <a:pt x="0" y="46032"/>
                  </a:lnTo>
                  <a:cubicBezTo>
                    <a:pt x="0" y="33823"/>
                    <a:pt x="4850" y="22115"/>
                    <a:pt x="13482" y="13482"/>
                  </a:cubicBezTo>
                  <a:cubicBezTo>
                    <a:pt x="22115" y="4850"/>
                    <a:pt x="33823" y="0"/>
                    <a:pt x="4603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753035" cy="1040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Longer booking lead time increases cancellation probability.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984447" y="3478999"/>
            <a:ext cx="2859178" cy="3732778"/>
            <a:chOff x="0" y="0"/>
            <a:chExt cx="753035" cy="9831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53035" cy="983119"/>
            </a:xfrm>
            <a:custGeom>
              <a:avLst/>
              <a:gdLst/>
              <a:ahLst/>
              <a:cxnLst/>
              <a:rect r="r" b="b" t="t" l="l"/>
              <a:pathLst>
                <a:path h="983119" w="753035">
                  <a:moveTo>
                    <a:pt x="46032" y="0"/>
                  </a:moveTo>
                  <a:lnTo>
                    <a:pt x="707003" y="0"/>
                  </a:lnTo>
                  <a:cubicBezTo>
                    <a:pt x="719211" y="0"/>
                    <a:pt x="730920" y="4850"/>
                    <a:pt x="739552" y="13482"/>
                  </a:cubicBezTo>
                  <a:cubicBezTo>
                    <a:pt x="748185" y="22115"/>
                    <a:pt x="753035" y="33823"/>
                    <a:pt x="753035" y="46032"/>
                  </a:cubicBezTo>
                  <a:lnTo>
                    <a:pt x="753035" y="937087"/>
                  </a:lnTo>
                  <a:cubicBezTo>
                    <a:pt x="753035" y="949295"/>
                    <a:pt x="748185" y="961004"/>
                    <a:pt x="739552" y="969636"/>
                  </a:cubicBezTo>
                  <a:cubicBezTo>
                    <a:pt x="730920" y="978269"/>
                    <a:pt x="719211" y="983119"/>
                    <a:pt x="707003" y="983119"/>
                  </a:cubicBezTo>
                  <a:lnTo>
                    <a:pt x="46032" y="983119"/>
                  </a:lnTo>
                  <a:cubicBezTo>
                    <a:pt x="33823" y="983119"/>
                    <a:pt x="22115" y="978269"/>
                    <a:pt x="13482" y="969636"/>
                  </a:cubicBezTo>
                  <a:cubicBezTo>
                    <a:pt x="4850" y="961004"/>
                    <a:pt x="0" y="949295"/>
                    <a:pt x="0" y="937087"/>
                  </a:cubicBezTo>
                  <a:lnTo>
                    <a:pt x="0" y="46032"/>
                  </a:lnTo>
                  <a:cubicBezTo>
                    <a:pt x="0" y="33823"/>
                    <a:pt x="4850" y="22115"/>
                    <a:pt x="13482" y="13482"/>
                  </a:cubicBezTo>
                  <a:cubicBezTo>
                    <a:pt x="22115" y="4850"/>
                    <a:pt x="33823" y="0"/>
                    <a:pt x="4603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753035" cy="1040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Non-Refund deposits significantly reduce cancellations.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293109" y="3478999"/>
            <a:ext cx="3761899" cy="4423075"/>
            <a:chOff x="0" y="0"/>
            <a:chExt cx="990788" cy="11649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90788" cy="1164925"/>
            </a:xfrm>
            <a:custGeom>
              <a:avLst/>
              <a:gdLst/>
              <a:ahLst/>
              <a:cxnLst/>
              <a:rect r="r" b="b" t="t" l="l"/>
              <a:pathLst>
                <a:path h="1164925" w="990788">
                  <a:moveTo>
                    <a:pt x="34986" y="0"/>
                  </a:moveTo>
                  <a:lnTo>
                    <a:pt x="955803" y="0"/>
                  </a:lnTo>
                  <a:cubicBezTo>
                    <a:pt x="975125" y="0"/>
                    <a:pt x="990788" y="15664"/>
                    <a:pt x="990788" y="34986"/>
                  </a:cubicBezTo>
                  <a:lnTo>
                    <a:pt x="990788" y="1129939"/>
                  </a:lnTo>
                  <a:cubicBezTo>
                    <a:pt x="990788" y="1149262"/>
                    <a:pt x="975125" y="1164925"/>
                    <a:pt x="955803" y="1164925"/>
                  </a:cubicBezTo>
                  <a:lnTo>
                    <a:pt x="34986" y="1164925"/>
                  </a:lnTo>
                  <a:cubicBezTo>
                    <a:pt x="15664" y="1164925"/>
                    <a:pt x="0" y="1149262"/>
                    <a:pt x="0" y="1129939"/>
                  </a:cubicBezTo>
                  <a:lnTo>
                    <a:pt x="0" y="34986"/>
                  </a:lnTo>
                  <a:cubicBezTo>
                    <a:pt x="0" y="15664"/>
                    <a:pt x="15664" y="0"/>
                    <a:pt x="349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990788" cy="122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Online Travel Agencies show the highest cancellation rate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457101" y="3478999"/>
            <a:ext cx="2859178" cy="3732778"/>
            <a:chOff x="0" y="0"/>
            <a:chExt cx="753035" cy="9831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53035" cy="983119"/>
            </a:xfrm>
            <a:custGeom>
              <a:avLst/>
              <a:gdLst/>
              <a:ahLst/>
              <a:cxnLst/>
              <a:rect r="r" b="b" t="t" l="l"/>
              <a:pathLst>
                <a:path h="983119" w="753035">
                  <a:moveTo>
                    <a:pt x="46032" y="0"/>
                  </a:moveTo>
                  <a:lnTo>
                    <a:pt x="707003" y="0"/>
                  </a:lnTo>
                  <a:cubicBezTo>
                    <a:pt x="719211" y="0"/>
                    <a:pt x="730920" y="4850"/>
                    <a:pt x="739552" y="13482"/>
                  </a:cubicBezTo>
                  <a:cubicBezTo>
                    <a:pt x="748185" y="22115"/>
                    <a:pt x="753035" y="33823"/>
                    <a:pt x="753035" y="46032"/>
                  </a:cubicBezTo>
                  <a:lnTo>
                    <a:pt x="753035" y="937087"/>
                  </a:lnTo>
                  <a:cubicBezTo>
                    <a:pt x="753035" y="949295"/>
                    <a:pt x="748185" y="961004"/>
                    <a:pt x="739552" y="969636"/>
                  </a:cubicBezTo>
                  <a:cubicBezTo>
                    <a:pt x="730920" y="978269"/>
                    <a:pt x="719211" y="983119"/>
                    <a:pt x="707003" y="983119"/>
                  </a:cubicBezTo>
                  <a:lnTo>
                    <a:pt x="46032" y="983119"/>
                  </a:lnTo>
                  <a:cubicBezTo>
                    <a:pt x="33823" y="983119"/>
                    <a:pt x="22115" y="978269"/>
                    <a:pt x="13482" y="969636"/>
                  </a:cubicBezTo>
                  <a:cubicBezTo>
                    <a:pt x="4850" y="961004"/>
                    <a:pt x="0" y="949295"/>
                    <a:pt x="0" y="937087"/>
                  </a:cubicBezTo>
                  <a:lnTo>
                    <a:pt x="0" y="46032"/>
                  </a:lnTo>
                  <a:cubicBezTo>
                    <a:pt x="0" y="33823"/>
                    <a:pt x="4850" y="22115"/>
                    <a:pt x="13482" y="13482"/>
                  </a:cubicBezTo>
                  <a:cubicBezTo>
                    <a:pt x="22115" y="4850"/>
                    <a:pt x="33823" y="0"/>
                    <a:pt x="4603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753035" cy="1040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Online Travel Agencies show the highest cancellation rate.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5033691" y="3478999"/>
            <a:ext cx="2859178" cy="3732778"/>
            <a:chOff x="0" y="0"/>
            <a:chExt cx="753035" cy="9831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53035" cy="983119"/>
            </a:xfrm>
            <a:custGeom>
              <a:avLst/>
              <a:gdLst/>
              <a:ahLst/>
              <a:cxnLst/>
              <a:rect r="r" b="b" t="t" l="l"/>
              <a:pathLst>
                <a:path h="983119" w="753035">
                  <a:moveTo>
                    <a:pt x="46032" y="0"/>
                  </a:moveTo>
                  <a:lnTo>
                    <a:pt x="707003" y="0"/>
                  </a:lnTo>
                  <a:cubicBezTo>
                    <a:pt x="719211" y="0"/>
                    <a:pt x="730920" y="4850"/>
                    <a:pt x="739552" y="13482"/>
                  </a:cubicBezTo>
                  <a:cubicBezTo>
                    <a:pt x="748185" y="22115"/>
                    <a:pt x="753035" y="33823"/>
                    <a:pt x="753035" y="46032"/>
                  </a:cubicBezTo>
                  <a:lnTo>
                    <a:pt x="753035" y="937087"/>
                  </a:lnTo>
                  <a:cubicBezTo>
                    <a:pt x="753035" y="949295"/>
                    <a:pt x="748185" y="961004"/>
                    <a:pt x="739552" y="969636"/>
                  </a:cubicBezTo>
                  <a:cubicBezTo>
                    <a:pt x="730920" y="978269"/>
                    <a:pt x="719211" y="983119"/>
                    <a:pt x="707003" y="983119"/>
                  </a:cubicBezTo>
                  <a:lnTo>
                    <a:pt x="46032" y="983119"/>
                  </a:lnTo>
                  <a:cubicBezTo>
                    <a:pt x="33823" y="983119"/>
                    <a:pt x="22115" y="978269"/>
                    <a:pt x="13482" y="969636"/>
                  </a:cubicBezTo>
                  <a:cubicBezTo>
                    <a:pt x="4850" y="961004"/>
                    <a:pt x="0" y="949295"/>
                    <a:pt x="0" y="937087"/>
                  </a:cubicBezTo>
                  <a:lnTo>
                    <a:pt x="0" y="46032"/>
                  </a:lnTo>
                  <a:cubicBezTo>
                    <a:pt x="0" y="33823"/>
                    <a:pt x="4850" y="22115"/>
                    <a:pt x="13482" y="13482"/>
                  </a:cubicBezTo>
                  <a:cubicBezTo>
                    <a:pt x="22115" y="4850"/>
                    <a:pt x="33823" y="0"/>
                    <a:pt x="4603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753035" cy="1040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Guests with special requests are less likely to cancel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406226" y="539635"/>
            <a:ext cx="5475549" cy="1802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2"/>
              </a:lnSpc>
            </a:pPr>
            <a:r>
              <a:rPr lang="en-US" sz="4786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Key Insights &amp; Main Findings</a:t>
            </a:r>
          </a:p>
          <a:p>
            <a:pPr algn="ctr">
              <a:lnSpc>
                <a:spcPts val="4642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583207" y="2593592"/>
            <a:ext cx="2819031" cy="38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3"/>
              </a:lnSpc>
            </a:pPr>
            <a:r>
              <a:rPr lang="en-US" b="true" sz="3003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📅 Lead Tim</a:t>
            </a:r>
            <a:r>
              <a:rPr lang="en-US" b="true" sz="3003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954688" y="2593592"/>
            <a:ext cx="2888937" cy="74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3"/>
              </a:lnSpc>
            </a:pPr>
            <a:r>
              <a:rPr lang="en-US" b="true" sz="3003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💳 Deposit</a:t>
            </a:r>
            <a:r>
              <a:rPr lang="en-US" b="true" sz="3003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Type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708710" y="2593592"/>
            <a:ext cx="2870580" cy="74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3"/>
              </a:lnSpc>
            </a:pPr>
            <a:r>
              <a:rPr lang="en-US" b="true" sz="3003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🔁 Previous Cancellations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826704" y="2593592"/>
            <a:ext cx="2119971" cy="74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3"/>
              </a:lnSpc>
            </a:pPr>
            <a:r>
              <a:rPr lang="en-US" b="true" sz="3003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🌐 Market Segment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341736" y="2593592"/>
            <a:ext cx="2119971" cy="74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3"/>
              </a:lnSpc>
            </a:pPr>
            <a:r>
              <a:rPr lang="en-US" b="true" sz="3003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⭐ Special Requests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344591">
            <a:off x="-4148183" y="5002073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20299770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0" y="6754287"/>
                </a:lnTo>
                <a:lnTo>
                  <a:pt x="2029977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31506" y="2115465"/>
            <a:ext cx="1248533" cy="2534416"/>
          </a:xfrm>
          <a:custGeom>
            <a:avLst/>
            <a:gdLst/>
            <a:ahLst/>
            <a:cxnLst/>
            <a:rect r="r" b="b" t="t" l="l"/>
            <a:pathLst>
              <a:path h="2534416" w="1248533">
                <a:moveTo>
                  <a:pt x="0" y="0"/>
                </a:moveTo>
                <a:lnTo>
                  <a:pt x="1248533" y="0"/>
                </a:lnTo>
                <a:lnTo>
                  <a:pt x="1248533" y="2534416"/>
                </a:lnTo>
                <a:lnTo>
                  <a:pt x="0" y="25344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9356748" y="8168662"/>
            <a:ext cx="1639686" cy="3328423"/>
          </a:xfrm>
          <a:custGeom>
            <a:avLst/>
            <a:gdLst/>
            <a:ahLst/>
            <a:cxnLst/>
            <a:rect r="r" b="b" t="t" l="l"/>
            <a:pathLst>
              <a:path h="3328423" w="1639686">
                <a:moveTo>
                  <a:pt x="0" y="0"/>
                </a:moveTo>
                <a:lnTo>
                  <a:pt x="1639686" y="0"/>
                </a:lnTo>
                <a:lnTo>
                  <a:pt x="1639686" y="3328423"/>
                </a:lnTo>
                <a:lnTo>
                  <a:pt x="0" y="3328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975364">
            <a:off x="9267610" y="-6454114"/>
            <a:ext cx="8862696" cy="8878839"/>
          </a:xfrm>
          <a:custGeom>
            <a:avLst/>
            <a:gdLst/>
            <a:ahLst/>
            <a:cxnLst/>
            <a:rect r="r" b="b" t="t" l="l"/>
            <a:pathLst>
              <a:path h="8878839" w="8862696">
                <a:moveTo>
                  <a:pt x="0" y="0"/>
                </a:moveTo>
                <a:lnTo>
                  <a:pt x="8862696" y="0"/>
                </a:lnTo>
                <a:lnTo>
                  <a:pt x="8862696" y="8878839"/>
                </a:lnTo>
                <a:lnTo>
                  <a:pt x="0" y="88788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17027" y="3322842"/>
            <a:ext cx="5468987" cy="993858"/>
            <a:chOff x="0" y="0"/>
            <a:chExt cx="2236332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36332" cy="406400"/>
            </a:xfrm>
            <a:custGeom>
              <a:avLst/>
              <a:gdLst/>
              <a:ahLst/>
              <a:cxnLst/>
              <a:rect r="r" b="b" t="t" l="l"/>
              <a:pathLst>
                <a:path h="406400" w="2236332">
                  <a:moveTo>
                    <a:pt x="2033132" y="0"/>
                  </a:moveTo>
                  <a:cubicBezTo>
                    <a:pt x="2145356" y="0"/>
                    <a:pt x="2236332" y="90976"/>
                    <a:pt x="2236332" y="203200"/>
                  </a:cubicBezTo>
                  <a:cubicBezTo>
                    <a:pt x="2236332" y="315424"/>
                    <a:pt x="2145356" y="406400"/>
                    <a:pt x="203313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236332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17027" y="4537146"/>
            <a:ext cx="5468987" cy="993858"/>
            <a:chOff x="0" y="0"/>
            <a:chExt cx="2236332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36332" cy="406400"/>
            </a:xfrm>
            <a:custGeom>
              <a:avLst/>
              <a:gdLst/>
              <a:ahLst/>
              <a:cxnLst/>
              <a:rect r="r" b="b" t="t" l="l"/>
              <a:pathLst>
                <a:path h="406400" w="2236332">
                  <a:moveTo>
                    <a:pt x="2033132" y="0"/>
                  </a:moveTo>
                  <a:cubicBezTo>
                    <a:pt x="2145356" y="0"/>
                    <a:pt x="2236332" y="90976"/>
                    <a:pt x="2236332" y="203200"/>
                  </a:cubicBezTo>
                  <a:cubicBezTo>
                    <a:pt x="2236332" y="315424"/>
                    <a:pt x="2145356" y="406400"/>
                    <a:pt x="203313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236332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17027" y="5770410"/>
            <a:ext cx="5468987" cy="993858"/>
            <a:chOff x="0" y="0"/>
            <a:chExt cx="2236332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6332" cy="406400"/>
            </a:xfrm>
            <a:custGeom>
              <a:avLst/>
              <a:gdLst/>
              <a:ahLst/>
              <a:cxnLst/>
              <a:rect r="r" b="b" t="t" l="l"/>
              <a:pathLst>
                <a:path h="406400" w="2236332">
                  <a:moveTo>
                    <a:pt x="2033132" y="0"/>
                  </a:moveTo>
                  <a:cubicBezTo>
                    <a:pt x="2145356" y="0"/>
                    <a:pt x="2236332" y="90976"/>
                    <a:pt x="2236332" y="203200"/>
                  </a:cubicBezTo>
                  <a:cubicBezTo>
                    <a:pt x="2236332" y="315424"/>
                    <a:pt x="2145356" y="406400"/>
                    <a:pt x="203313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236332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17027" y="7002393"/>
            <a:ext cx="5468987" cy="963602"/>
            <a:chOff x="0" y="0"/>
            <a:chExt cx="2236332" cy="3940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6332" cy="394028"/>
            </a:xfrm>
            <a:custGeom>
              <a:avLst/>
              <a:gdLst/>
              <a:ahLst/>
              <a:cxnLst/>
              <a:rect r="r" b="b" t="t" l="l"/>
              <a:pathLst>
                <a:path h="394028" w="2236332">
                  <a:moveTo>
                    <a:pt x="2033132" y="0"/>
                  </a:moveTo>
                  <a:cubicBezTo>
                    <a:pt x="2145356" y="0"/>
                    <a:pt x="2236332" y="88206"/>
                    <a:pt x="2236332" y="197014"/>
                  </a:cubicBezTo>
                  <a:cubicBezTo>
                    <a:pt x="2236332" y="305822"/>
                    <a:pt x="2145356" y="394028"/>
                    <a:pt x="2033132" y="394028"/>
                  </a:cubicBezTo>
                  <a:lnTo>
                    <a:pt x="203200" y="394028"/>
                  </a:lnTo>
                  <a:cubicBezTo>
                    <a:pt x="90976" y="394028"/>
                    <a:pt x="0" y="305822"/>
                    <a:pt x="0" y="197014"/>
                  </a:cubicBezTo>
                  <a:cubicBezTo>
                    <a:pt x="0" y="8820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236332" cy="4511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6672539" y="9002223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06388" r="-103152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396600" y="3382673"/>
            <a:ext cx="4988343" cy="4557075"/>
          </a:xfrm>
          <a:custGeom>
            <a:avLst/>
            <a:gdLst/>
            <a:ahLst/>
            <a:cxnLst/>
            <a:rect r="r" b="b" t="t" l="l"/>
            <a:pathLst>
              <a:path h="4557075" w="4988343">
                <a:moveTo>
                  <a:pt x="0" y="0"/>
                </a:moveTo>
                <a:lnTo>
                  <a:pt x="4988343" y="0"/>
                </a:lnTo>
                <a:lnTo>
                  <a:pt x="4988343" y="4557074"/>
                </a:lnTo>
                <a:lnTo>
                  <a:pt x="0" y="45570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495528" y="3936812"/>
            <a:ext cx="6606055" cy="3448796"/>
          </a:xfrm>
          <a:custGeom>
            <a:avLst/>
            <a:gdLst/>
            <a:ahLst/>
            <a:cxnLst/>
            <a:rect r="r" b="b" t="t" l="l"/>
            <a:pathLst>
              <a:path h="3448796" w="6606055">
                <a:moveTo>
                  <a:pt x="0" y="0"/>
                </a:moveTo>
                <a:lnTo>
                  <a:pt x="6606055" y="0"/>
                </a:lnTo>
                <a:lnTo>
                  <a:pt x="6606055" y="3448796"/>
                </a:lnTo>
                <a:lnTo>
                  <a:pt x="0" y="34487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058" t="-1632" r="-313" b="-397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1181100"/>
            <a:ext cx="3681189" cy="90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9"/>
              </a:lnSpc>
            </a:pPr>
            <a:r>
              <a:rPr lang="en-US" sz="69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Best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2050698"/>
            <a:ext cx="6455557" cy="617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8"/>
              </a:lnSpc>
            </a:pPr>
            <a:r>
              <a:rPr lang="en-US" b="true" sz="4823">
                <a:solidFill>
                  <a:srgbClr val="A94BC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Performing Approach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3202" y="4688175"/>
            <a:ext cx="5532813" cy="629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  <a:spcBef>
                <a:spcPct val="0"/>
              </a:spcBef>
            </a:pPr>
            <a:r>
              <a:rPr lang="en-US" sz="3728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⚙️ Feature Engineering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65891" y="3473709"/>
            <a:ext cx="4307436" cy="644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0"/>
              </a:lnSpc>
              <a:spcBef>
                <a:spcPct val="0"/>
              </a:spcBef>
            </a:pPr>
            <a:r>
              <a:rPr lang="en-US" sz="3828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🌲 Random Forest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65891" y="7143942"/>
            <a:ext cx="4307436" cy="644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0"/>
              </a:lnSpc>
              <a:spcBef>
                <a:spcPct val="0"/>
              </a:spcBef>
            </a:pPr>
            <a:r>
              <a:rPr lang="en-US" sz="3828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Human Oversight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8709" y="5912004"/>
            <a:ext cx="7045624" cy="530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0"/>
              </a:lnSpc>
              <a:spcBef>
                <a:spcPct val="0"/>
              </a:spcBef>
            </a:pPr>
            <a:r>
              <a:rPr lang="en-US" sz="3128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⚖️ Class Imbalance Handling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79963" y="8322066"/>
            <a:ext cx="4621618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very l</a:t>
            </a:r>
            <a:r>
              <a:rPr lang="en-US" b="true" sz="24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ow cancellation rate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6579963" y="7933446"/>
            <a:ext cx="4621618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N</a:t>
            </a:r>
            <a:r>
              <a:rPr lang="en-US" b="true" sz="24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on Refund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509813">
            <a:off x="1190391" y="-3887171"/>
            <a:ext cx="6058172" cy="6069207"/>
          </a:xfrm>
          <a:custGeom>
            <a:avLst/>
            <a:gdLst/>
            <a:ahLst/>
            <a:cxnLst/>
            <a:rect r="r" b="b" t="t" l="l"/>
            <a:pathLst>
              <a:path h="6069207" w="6058172">
                <a:moveTo>
                  <a:pt x="0" y="0"/>
                </a:moveTo>
                <a:lnTo>
                  <a:pt x="6058172" y="0"/>
                </a:lnTo>
                <a:lnTo>
                  <a:pt x="6058172" y="6069206"/>
                </a:lnTo>
                <a:lnTo>
                  <a:pt x="0" y="60692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71797" y="1635795"/>
            <a:ext cx="8731972" cy="6519873"/>
          </a:xfrm>
          <a:custGeom>
            <a:avLst/>
            <a:gdLst/>
            <a:ahLst/>
            <a:cxnLst/>
            <a:rect r="r" b="b" t="t" l="l"/>
            <a:pathLst>
              <a:path h="6519873" w="8731972">
                <a:moveTo>
                  <a:pt x="0" y="0"/>
                </a:moveTo>
                <a:lnTo>
                  <a:pt x="8731972" y="0"/>
                </a:lnTo>
                <a:lnTo>
                  <a:pt x="8731972" y="6519873"/>
                </a:lnTo>
                <a:lnTo>
                  <a:pt x="0" y="65198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454844">
            <a:off x="4517826" y="3410114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0" y="0"/>
                </a:moveTo>
                <a:lnTo>
                  <a:pt x="20299770" y="0"/>
                </a:lnTo>
                <a:lnTo>
                  <a:pt x="20299770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7426686" y="800576"/>
            <a:ext cx="1401627" cy="2845182"/>
          </a:xfrm>
          <a:custGeom>
            <a:avLst/>
            <a:gdLst/>
            <a:ahLst/>
            <a:cxnLst/>
            <a:rect r="r" b="b" t="t" l="l"/>
            <a:pathLst>
              <a:path h="2845182" w="1401627">
                <a:moveTo>
                  <a:pt x="1401626" y="0"/>
                </a:moveTo>
                <a:lnTo>
                  <a:pt x="0" y="0"/>
                </a:lnTo>
                <a:lnTo>
                  <a:pt x="0" y="2845182"/>
                </a:lnTo>
                <a:lnTo>
                  <a:pt x="1401626" y="2845182"/>
                </a:lnTo>
                <a:lnTo>
                  <a:pt x="1401626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5400000">
            <a:off x="1590020" y="8233202"/>
            <a:ext cx="1627419" cy="3303521"/>
          </a:xfrm>
          <a:custGeom>
            <a:avLst/>
            <a:gdLst/>
            <a:ahLst/>
            <a:cxnLst/>
            <a:rect r="r" b="b" t="t" l="l"/>
            <a:pathLst>
              <a:path h="3303521" w="1627419">
                <a:moveTo>
                  <a:pt x="1627419" y="3303521"/>
                </a:moveTo>
                <a:lnTo>
                  <a:pt x="0" y="3303521"/>
                </a:lnTo>
                <a:lnTo>
                  <a:pt x="0" y="0"/>
                </a:lnTo>
                <a:lnTo>
                  <a:pt x="1627419" y="0"/>
                </a:lnTo>
                <a:lnTo>
                  <a:pt x="1627419" y="3303521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196015" y="3166407"/>
            <a:ext cx="4500693" cy="958701"/>
            <a:chOff x="0" y="0"/>
            <a:chExt cx="1907875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07875" cy="406400"/>
            </a:xfrm>
            <a:custGeom>
              <a:avLst/>
              <a:gdLst/>
              <a:ahLst/>
              <a:cxnLst/>
              <a:rect r="r" b="b" t="t" l="l"/>
              <a:pathLst>
                <a:path h="406400" w="1907875">
                  <a:moveTo>
                    <a:pt x="1704675" y="0"/>
                  </a:moveTo>
                  <a:cubicBezTo>
                    <a:pt x="1816900" y="0"/>
                    <a:pt x="1907875" y="90976"/>
                    <a:pt x="1907875" y="203200"/>
                  </a:cubicBezTo>
                  <a:cubicBezTo>
                    <a:pt x="1907875" y="315424"/>
                    <a:pt x="1816900" y="406400"/>
                    <a:pt x="170467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907875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090863" y="4257880"/>
            <a:ext cx="4841684" cy="4156110"/>
            <a:chOff x="0" y="0"/>
            <a:chExt cx="2052424" cy="17618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52424" cy="1761804"/>
            </a:xfrm>
            <a:custGeom>
              <a:avLst/>
              <a:gdLst/>
              <a:ahLst/>
              <a:cxnLst/>
              <a:rect r="r" b="b" t="t" l="l"/>
              <a:pathLst>
                <a:path h="1761804" w="2052424">
                  <a:moveTo>
                    <a:pt x="1849224" y="0"/>
                  </a:moveTo>
                  <a:cubicBezTo>
                    <a:pt x="1961448" y="0"/>
                    <a:pt x="2052424" y="394393"/>
                    <a:pt x="2052424" y="880902"/>
                  </a:cubicBezTo>
                  <a:cubicBezTo>
                    <a:pt x="2052424" y="1367411"/>
                    <a:pt x="1961448" y="1761804"/>
                    <a:pt x="1849224" y="1761804"/>
                  </a:cubicBezTo>
                  <a:lnTo>
                    <a:pt x="203200" y="1761804"/>
                  </a:lnTo>
                  <a:cubicBezTo>
                    <a:pt x="90976" y="1761804"/>
                    <a:pt x="0" y="1367411"/>
                    <a:pt x="0" y="880902"/>
                  </a:cubicBezTo>
                  <a:cubicBezTo>
                    <a:pt x="0" y="394393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052424" cy="1818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291355" y="3165062"/>
            <a:ext cx="4662673" cy="958701"/>
            <a:chOff x="0" y="0"/>
            <a:chExt cx="197654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76540" cy="406400"/>
            </a:xfrm>
            <a:custGeom>
              <a:avLst/>
              <a:gdLst/>
              <a:ahLst/>
              <a:cxnLst/>
              <a:rect r="r" b="b" t="t" l="l"/>
              <a:pathLst>
                <a:path h="406400" w="1976540">
                  <a:moveTo>
                    <a:pt x="1773340" y="0"/>
                  </a:moveTo>
                  <a:cubicBezTo>
                    <a:pt x="1885564" y="0"/>
                    <a:pt x="1976540" y="90976"/>
                    <a:pt x="1976540" y="203200"/>
                  </a:cubicBezTo>
                  <a:cubicBezTo>
                    <a:pt x="1976540" y="315424"/>
                    <a:pt x="1885564" y="406400"/>
                    <a:pt x="17733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97654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291355" y="4257880"/>
            <a:ext cx="4836144" cy="4156110"/>
            <a:chOff x="0" y="0"/>
            <a:chExt cx="1855039" cy="15941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55039" cy="1594193"/>
            </a:xfrm>
            <a:custGeom>
              <a:avLst/>
              <a:gdLst/>
              <a:ahLst/>
              <a:cxnLst/>
              <a:rect r="r" b="b" t="t" l="l"/>
              <a:pathLst>
                <a:path h="1594193" w="1855039">
                  <a:moveTo>
                    <a:pt x="1651839" y="0"/>
                  </a:moveTo>
                  <a:cubicBezTo>
                    <a:pt x="1764063" y="0"/>
                    <a:pt x="1855039" y="356872"/>
                    <a:pt x="1855039" y="797096"/>
                  </a:cubicBezTo>
                  <a:cubicBezTo>
                    <a:pt x="1855039" y="1237321"/>
                    <a:pt x="1764063" y="1594193"/>
                    <a:pt x="1651839" y="1594193"/>
                  </a:cubicBezTo>
                  <a:lnTo>
                    <a:pt x="203200" y="1594193"/>
                  </a:lnTo>
                  <a:cubicBezTo>
                    <a:pt x="90976" y="1594193"/>
                    <a:pt x="0" y="1237321"/>
                    <a:pt x="0" y="797096"/>
                  </a:cubicBezTo>
                  <a:cubicBezTo>
                    <a:pt x="0" y="356872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855039" cy="1651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826085" y="9288408"/>
            <a:ext cx="4726694" cy="490540"/>
            <a:chOff x="0" y="0"/>
            <a:chExt cx="3915949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15949" cy="406400"/>
            </a:xfrm>
            <a:custGeom>
              <a:avLst/>
              <a:gdLst/>
              <a:ahLst/>
              <a:cxnLst/>
              <a:rect r="r" b="b" t="t" l="l"/>
              <a:pathLst>
                <a:path h="406400" w="3915949">
                  <a:moveTo>
                    <a:pt x="3712749" y="0"/>
                  </a:moveTo>
                  <a:cubicBezTo>
                    <a:pt x="3824973" y="0"/>
                    <a:pt x="3915949" y="90976"/>
                    <a:pt x="3915949" y="203200"/>
                  </a:cubicBezTo>
                  <a:cubicBezTo>
                    <a:pt x="3915949" y="315424"/>
                    <a:pt x="3824973" y="406400"/>
                    <a:pt x="37127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3915949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8458061" y="9090687"/>
            <a:ext cx="1623084" cy="197721"/>
          </a:xfrm>
          <a:custGeom>
            <a:avLst/>
            <a:gdLst/>
            <a:ahLst/>
            <a:cxnLst/>
            <a:rect r="r" b="b" t="t" l="l"/>
            <a:pathLst>
              <a:path h="197721" w="1623084">
                <a:moveTo>
                  <a:pt x="0" y="0"/>
                </a:moveTo>
                <a:lnTo>
                  <a:pt x="1623084" y="0"/>
                </a:lnTo>
                <a:lnTo>
                  <a:pt x="1623084" y="197721"/>
                </a:lnTo>
                <a:lnTo>
                  <a:pt x="0" y="1977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458061" y="1052882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06388" r="-103152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424038" y="670988"/>
            <a:ext cx="6699403" cy="989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361"/>
              </a:lnSpc>
            </a:pPr>
            <a:r>
              <a:rPr lang="en-US" sz="7588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Lim</a:t>
            </a:r>
            <a:r>
              <a:rPr lang="en-US" sz="7588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itations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955005" y="3327565"/>
            <a:ext cx="4938068" cy="1788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1"/>
              </a:lnSpc>
            </a:pPr>
            <a:r>
              <a:rPr lang="en-US" sz="3408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Model Limitations</a:t>
            </a:r>
          </a:p>
          <a:p>
            <a:pPr algn="ctr">
              <a:lnSpc>
                <a:spcPts val="4771"/>
              </a:lnSpc>
            </a:pPr>
          </a:p>
          <a:p>
            <a:pPr algn="ctr">
              <a:lnSpc>
                <a:spcPts val="4771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8163177" y="5086350"/>
            <a:ext cx="4697057" cy="1788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1"/>
              </a:lnSpc>
            </a:pPr>
            <a:r>
              <a:rPr lang="en-US" sz="3408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• Possible overfitting</a:t>
            </a:r>
          </a:p>
          <a:p>
            <a:pPr algn="ctr">
              <a:lnSpc>
                <a:spcPts val="4771"/>
              </a:lnSpc>
            </a:pPr>
            <a:r>
              <a:rPr lang="en-US" sz="3408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• Class imbalance</a:t>
            </a:r>
          </a:p>
          <a:p>
            <a:pPr algn="ctr">
              <a:lnSpc>
                <a:spcPts val="4771"/>
              </a:lnSpc>
              <a:spcBef>
                <a:spcPct val="0"/>
              </a:spcBef>
            </a:pPr>
            <a:r>
              <a:rPr lang="en-US" b="true" sz="3408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• Less interpretability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189432" y="3328910"/>
            <a:ext cx="4938068" cy="1788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1"/>
              </a:lnSpc>
            </a:pPr>
            <a:r>
              <a:rPr lang="en-US" sz="3408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Dataset Limitations</a:t>
            </a:r>
          </a:p>
          <a:p>
            <a:pPr algn="ctr">
              <a:lnSpc>
                <a:spcPts val="4771"/>
              </a:lnSpc>
            </a:pPr>
          </a:p>
          <a:p>
            <a:pPr algn="ctr">
              <a:lnSpc>
                <a:spcPts val="4771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3451856" y="4614012"/>
            <a:ext cx="4675643" cy="3606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1"/>
              </a:lnSpc>
            </a:pPr>
            <a:r>
              <a:rPr lang="en-US" sz="3408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• Data from only two hotels in Portugal</a:t>
            </a:r>
          </a:p>
          <a:p>
            <a:pPr algn="ctr">
              <a:lnSpc>
                <a:spcPts val="4771"/>
              </a:lnSpc>
            </a:pPr>
            <a:r>
              <a:rPr lang="en-US" sz="3408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• No recent data after COVID-19</a:t>
            </a:r>
          </a:p>
          <a:p>
            <a:pPr algn="ctr">
              <a:lnSpc>
                <a:spcPts val="4771"/>
              </a:lnSpc>
              <a:spcBef>
                <a:spcPct val="0"/>
              </a:spcBef>
            </a:pPr>
            <a:r>
              <a:rPr lang="en-US" b="true" sz="3408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• Limited external factors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344591">
            <a:off x="-3561422" y="5173956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20299770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0" y="6754287"/>
                </a:lnTo>
                <a:lnTo>
                  <a:pt x="2029977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04701" y="6789856"/>
            <a:ext cx="1216033" cy="2468444"/>
          </a:xfrm>
          <a:custGeom>
            <a:avLst/>
            <a:gdLst/>
            <a:ahLst/>
            <a:cxnLst/>
            <a:rect r="r" b="b" t="t" l="l"/>
            <a:pathLst>
              <a:path h="2468444" w="1216033">
                <a:moveTo>
                  <a:pt x="0" y="0"/>
                </a:moveTo>
                <a:lnTo>
                  <a:pt x="1216033" y="0"/>
                </a:lnTo>
                <a:lnTo>
                  <a:pt x="1216033" y="2468444"/>
                </a:lnTo>
                <a:lnTo>
                  <a:pt x="0" y="2468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5400000">
            <a:off x="16136517" y="7394729"/>
            <a:ext cx="2245565" cy="4558305"/>
          </a:xfrm>
          <a:custGeom>
            <a:avLst/>
            <a:gdLst/>
            <a:ahLst/>
            <a:cxnLst/>
            <a:rect r="r" b="b" t="t" l="l"/>
            <a:pathLst>
              <a:path h="4558305" w="2245565">
                <a:moveTo>
                  <a:pt x="2245566" y="0"/>
                </a:moveTo>
                <a:lnTo>
                  <a:pt x="0" y="0"/>
                </a:lnTo>
                <a:lnTo>
                  <a:pt x="0" y="4558306"/>
                </a:lnTo>
                <a:lnTo>
                  <a:pt x="2245566" y="4558306"/>
                </a:lnTo>
                <a:lnTo>
                  <a:pt x="2245566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171694">
            <a:off x="11249471" y="-3887171"/>
            <a:ext cx="6058172" cy="6069207"/>
          </a:xfrm>
          <a:custGeom>
            <a:avLst/>
            <a:gdLst/>
            <a:ahLst/>
            <a:cxnLst/>
            <a:rect r="r" b="b" t="t" l="l"/>
            <a:pathLst>
              <a:path h="6069207" w="6058172">
                <a:moveTo>
                  <a:pt x="0" y="0"/>
                </a:moveTo>
                <a:lnTo>
                  <a:pt x="6058172" y="0"/>
                </a:lnTo>
                <a:lnTo>
                  <a:pt x="6058172" y="6069206"/>
                </a:lnTo>
                <a:lnTo>
                  <a:pt x="0" y="6069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896568"/>
            <a:ext cx="10020925" cy="81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• Try XGBoost / L</a:t>
            </a:r>
            <a:r>
              <a:rPr lang="en-US" sz="24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ightGBM</a:t>
            </a:r>
          </a:p>
          <a:p>
            <a:pPr algn="l">
              <a:lnSpc>
                <a:spcPts val="3249"/>
              </a:lnSpc>
            </a:pPr>
            <a:r>
              <a:rPr lang="en-US" sz="24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• Improve hyperparameter tuning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577317"/>
            <a:ext cx="10020925" cy="81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• Re</a:t>
            </a:r>
            <a:r>
              <a:rPr lang="en-US" sz="24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al-time prediction API</a:t>
            </a:r>
          </a:p>
          <a:p>
            <a:pPr algn="l">
              <a:lnSpc>
                <a:spcPts val="3249"/>
              </a:lnSpc>
            </a:pPr>
            <a:r>
              <a:rPr lang="en-US" sz="24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• Sentiment analysis from reviews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16133" y="3248245"/>
            <a:ext cx="5991355" cy="993858"/>
            <a:chOff x="0" y="0"/>
            <a:chExt cx="2449934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9934" cy="406400"/>
            </a:xfrm>
            <a:custGeom>
              <a:avLst/>
              <a:gdLst/>
              <a:ahLst/>
              <a:cxnLst/>
              <a:rect r="r" b="b" t="t" l="l"/>
              <a:pathLst>
                <a:path h="406400" w="2449934">
                  <a:moveTo>
                    <a:pt x="2246734" y="0"/>
                  </a:moveTo>
                  <a:cubicBezTo>
                    <a:pt x="2358959" y="0"/>
                    <a:pt x="2449934" y="90976"/>
                    <a:pt x="2449934" y="203200"/>
                  </a:cubicBezTo>
                  <a:cubicBezTo>
                    <a:pt x="2449934" y="315424"/>
                    <a:pt x="2358959" y="406400"/>
                    <a:pt x="224673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44993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516133" y="4719776"/>
            <a:ext cx="5991355" cy="993858"/>
            <a:chOff x="0" y="0"/>
            <a:chExt cx="2449934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49934" cy="406400"/>
            </a:xfrm>
            <a:custGeom>
              <a:avLst/>
              <a:gdLst/>
              <a:ahLst/>
              <a:cxnLst/>
              <a:rect r="r" b="b" t="t" l="l"/>
              <a:pathLst>
                <a:path h="406400" w="2449934">
                  <a:moveTo>
                    <a:pt x="2246734" y="0"/>
                  </a:moveTo>
                  <a:cubicBezTo>
                    <a:pt x="2358959" y="0"/>
                    <a:pt x="2449934" y="90976"/>
                    <a:pt x="2449934" y="203200"/>
                  </a:cubicBezTo>
                  <a:cubicBezTo>
                    <a:pt x="2449934" y="315424"/>
                    <a:pt x="2358959" y="406400"/>
                    <a:pt x="224673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44993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554971" y="6399434"/>
            <a:ext cx="5952517" cy="993858"/>
            <a:chOff x="0" y="0"/>
            <a:chExt cx="2434053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34053" cy="406400"/>
            </a:xfrm>
            <a:custGeom>
              <a:avLst/>
              <a:gdLst/>
              <a:ahLst/>
              <a:cxnLst/>
              <a:rect r="r" b="b" t="t" l="l"/>
              <a:pathLst>
                <a:path h="406400" w="2434053">
                  <a:moveTo>
                    <a:pt x="2230853" y="0"/>
                  </a:moveTo>
                  <a:cubicBezTo>
                    <a:pt x="2343077" y="0"/>
                    <a:pt x="2434053" y="90976"/>
                    <a:pt x="2434053" y="203200"/>
                  </a:cubicBezTo>
                  <a:cubicBezTo>
                    <a:pt x="2434053" y="315424"/>
                    <a:pt x="2343077" y="406400"/>
                    <a:pt x="223085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434053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598939" y="1696195"/>
            <a:ext cx="1971810" cy="240202"/>
          </a:xfrm>
          <a:custGeom>
            <a:avLst/>
            <a:gdLst/>
            <a:ahLst/>
            <a:cxnLst/>
            <a:rect r="r" b="b" t="t" l="l"/>
            <a:pathLst>
              <a:path h="240202" w="1971810">
                <a:moveTo>
                  <a:pt x="0" y="0"/>
                </a:moveTo>
                <a:lnTo>
                  <a:pt x="1971810" y="0"/>
                </a:lnTo>
                <a:lnTo>
                  <a:pt x="1971810" y="240203"/>
                </a:lnTo>
                <a:lnTo>
                  <a:pt x="0" y="2402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049625" y="8767760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06388" r="-103152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67538" y="3322899"/>
            <a:ext cx="10020925" cy="81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• Collect mo</a:t>
            </a:r>
            <a:r>
              <a:rPr lang="en-US" sz="24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 diverse hotel data</a:t>
            </a:r>
          </a:p>
          <a:p>
            <a:pPr algn="l">
              <a:lnSpc>
                <a:spcPts val="3249"/>
              </a:lnSpc>
            </a:pPr>
            <a:r>
              <a:rPr lang="en-US" sz="24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• Add external data (weather, holidays)</a:t>
            </a:r>
          </a:p>
        </p:txBody>
      </p:sp>
      <p:grpSp>
        <p:nvGrpSpPr>
          <p:cNvPr name="Group 20" id="20"/>
          <p:cNvGrpSpPr/>
          <p:nvPr/>
        </p:nvGrpSpPr>
        <p:grpSpPr>
          <a:xfrm rot="-10800000">
            <a:off x="6476537" y="3351474"/>
            <a:ext cx="4094212" cy="787400"/>
            <a:chOff x="0" y="0"/>
            <a:chExt cx="3232677" cy="6217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32677" cy="621709"/>
            </a:xfrm>
            <a:custGeom>
              <a:avLst/>
              <a:gdLst/>
              <a:ahLst/>
              <a:cxnLst/>
              <a:rect r="r" b="b" t="t" l="l"/>
              <a:pathLst>
                <a:path h="621709" w="3232677">
                  <a:moveTo>
                    <a:pt x="3232677" y="310855"/>
                  </a:moveTo>
                  <a:lnTo>
                    <a:pt x="2826277" y="0"/>
                  </a:lnTo>
                  <a:lnTo>
                    <a:pt x="2826277" y="203200"/>
                  </a:lnTo>
                  <a:lnTo>
                    <a:pt x="0" y="203200"/>
                  </a:lnTo>
                  <a:lnTo>
                    <a:pt x="0" y="418509"/>
                  </a:lnTo>
                  <a:lnTo>
                    <a:pt x="2826277" y="418509"/>
                  </a:lnTo>
                  <a:lnTo>
                    <a:pt x="2826277" y="621709"/>
                  </a:lnTo>
                  <a:lnTo>
                    <a:pt x="3232677" y="310855"/>
                  </a:ln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146050"/>
              <a:ext cx="3131077" cy="272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10800000">
            <a:off x="6588463" y="4749800"/>
            <a:ext cx="4461162" cy="787400"/>
            <a:chOff x="0" y="0"/>
            <a:chExt cx="3522411" cy="6217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522411" cy="621709"/>
            </a:xfrm>
            <a:custGeom>
              <a:avLst/>
              <a:gdLst/>
              <a:ahLst/>
              <a:cxnLst/>
              <a:rect r="r" b="b" t="t" l="l"/>
              <a:pathLst>
                <a:path h="621709" w="3522411">
                  <a:moveTo>
                    <a:pt x="3522411" y="310855"/>
                  </a:moveTo>
                  <a:lnTo>
                    <a:pt x="3116011" y="0"/>
                  </a:lnTo>
                  <a:lnTo>
                    <a:pt x="3116011" y="203200"/>
                  </a:lnTo>
                  <a:lnTo>
                    <a:pt x="0" y="203200"/>
                  </a:lnTo>
                  <a:lnTo>
                    <a:pt x="0" y="418509"/>
                  </a:lnTo>
                  <a:lnTo>
                    <a:pt x="3116011" y="418509"/>
                  </a:lnTo>
                  <a:lnTo>
                    <a:pt x="3116011" y="621709"/>
                  </a:lnTo>
                  <a:lnTo>
                    <a:pt x="3522411" y="310855"/>
                  </a:ln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146050"/>
              <a:ext cx="3420811" cy="272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10800000">
            <a:off x="6588463" y="6396156"/>
            <a:ext cx="4794235" cy="787400"/>
            <a:chOff x="0" y="0"/>
            <a:chExt cx="3785396" cy="62170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785396" cy="621709"/>
            </a:xfrm>
            <a:custGeom>
              <a:avLst/>
              <a:gdLst/>
              <a:ahLst/>
              <a:cxnLst/>
              <a:rect r="r" b="b" t="t" l="l"/>
              <a:pathLst>
                <a:path h="621709" w="3785396">
                  <a:moveTo>
                    <a:pt x="3785396" y="310855"/>
                  </a:moveTo>
                  <a:lnTo>
                    <a:pt x="3378996" y="0"/>
                  </a:lnTo>
                  <a:lnTo>
                    <a:pt x="3378996" y="203200"/>
                  </a:lnTo>
                  <a:lnTo>
                    <a:pt x="0" y="203200"/>
                  </a:lnTo>
                  <a:lnTo>
                    <a:pt x="0" y="418509"/>
                  </a:lnTo>
                  <a:lnTo>
                    <a:pt x="3378996" y="418509"/>
                  </a:lnTo>
                  <a:lnTo>
                    <a:pt x="3378996" y="621709"/>
                  </a:lnTo>
                  <a:lnTo>
                    <a:pt x="3785396" y="310855"/>
                  </a:ln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146050"/>
              <a:ext cx="3683796" cy="272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pic>
        <p:nvPicPr>
          <p:cNvPr name="Picture 29" id="2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559775" y="3522597"/>
            <a:ext cx="763118" cy="445152"/>
          </a:xfrm>
          <a:prstGeom prst="rect">
            <a:avLst/>
          </a:prstGeom>
        </p:spPr>
      </p:pic>
      <p:sp>
        <p:nvSpPr>
          <p:cNvPr name="Freeform 30" id="30"/>
          <p:cNvSpPr/>
          <p:nvPr/>
        </p:nvSpPr>
        <p:spPr>
          <a:xfrm flipH="false" flipV="false" rot="0">
            <a:off x="16671933" y="4829673"/>
            <a:ext cx="626205" cy="768350"/>
          </a:xfrm>
          <a:custGeom>
            <a:avLst/>
            <a:gdLst/>
            <a:ahLst/>
            <a:cxnLst/>
            <a:rect r="r" b="b" t="t" l="l"/>
            <a:pathLst>
              <a:path h="768350" w="626205">
                <a:moveTo>
                  <a:pt x="0" y="0"/>
                </a:moveTo>
                <a:lnTo>
                  <a:pt x="626205" y="0"/>
                </a:lnTo>
                <a:lnTo>
                  <a:pt x="626205" y="768350"/>
                </a:lnTo>
                <a:lnTo>
                  <a:pt x="0" y="7683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6685185" y="6532784"/>
            <a:ext cx="612953" cy="709641"/>
          </a:xfrm>
          <a:custGeom>
            <a:avLst/>
            <a:gdLst/>
            <a:ahLst/>
            <a:cxnLst/>
            <a:rect r="r" b="b" t="t" l="l"/>
            <a:pathLst>
              <a:path h="709641" w="612953">
                <a:moveTo>
                  <a:pt x="0" y="0"/>
                </a:moveTo>
                <a:lnTo>
                  <a:pt x="612953" y="0"/>
                </a:lnTo>
                <a:lnTo>
                  <a:pt x="612953" y="709642"/>
                </a:lnTo>
                <a:lnTo>
                  <a:pt x="0" y="70964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028700" y="1181100"/>
            <a:ext cx="6179482" cy="90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9"/>
              </a:lnSpc>
            </a:pPr>
            <a:r>
              <a:rPr lang="en-US" sz="69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Future</a:t>
            </a:r>
            <a:r>
              <a:rPr lang="en-US" sz="69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Work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124839" y="3389793"/>
            <a:ext cx="4307436" cy="644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0"/>
              </a:lnSpc>
              <a:spcBef>
                <a:spcPct val="0"/>
              </a:spcBef>
            </a:pPr>
            <a:r>
              <a:rPr lang="en-US" sz="3828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Data Improvements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836172" y="4858468"/>
            <a:ext cx="4884770" cy="644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0"/>
              </a:lnSpc>
              <a:spcBef>
                <a:spcPct val="0"/>
              </a:spcBef>
            </a:pPr>
            <a:r>
              <a:rPr lang="en-US" sz="3828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Model Improvements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023007" y="6434476"/>
            <a:ext cx="4807094" cy="644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0"/>
              </a:lnSpc>
              <a:spcBef>
                <a:spcPct val="0"/>
              </a:spcBef>
            </a:pPr>
            <a:r>
              <a:rPr lang="en-US" sz="3828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Future Applications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26617">
            <a:off x="3395976" y="3190853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41392" y="587451"/>
            <a:ext cx="9122342" cy="9105756"/>
          </a:xfrm>
          <a:custGeom>
            <a:avLst/>
            <a:gdLst/>
            <a:ahLst/>
            <a:cxnLst/>
            <a:rect r="r" b="b" t="t" l="l"/>
            <a:pathLst>
              <a:path h="9105756" w="9122342">
                <a:moveTo>
                  <a:pt x="0" y="0"/>
                </a:moveTo>
                <a:lnTo>
                  <a:pt x="9122342" y="0"/>
                </a:lnTo>
                <a:lnTo>
                  <a:pt x="9122342" y="9105756"/>
                </a:lnTo>
                <a:lnTo>
                  <a:pt x="0" y="91057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157946">
            <a:off x="10971715" y="1704128"/>
            <a:ext cx="7674174" cy="2885362"/>
          </a:xfrm>
          <a:custGeom>
            <a:avLst/>
            <a:gdLst/>
            <a:ahLst/>
            <a:cxnLst/>
            <a:rect r="r" b="b" t="t" l="l"/>
            <a:pathLst>
              <a:path h="2885362" w="7674174">
                <a:moveTo>
                  <a:pt x="0" y="0"/>
                </a:moveTo>
                <a:lnTo>
                  <a:pt x="7674174" y="0"/>
                </a:lnTo>
                <a:lnTo>
                  <a:pt x="7674174" y="2885362"/>
                </a:lnTo>
                <a:lnTo>
                  <a:pt x="0" y="28853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-3298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2157946">
            <a:off x="8438712" y="4719029"/>
            <a:ext cx="7674174" cy="3837087"/>
          </a:xfrm>
          <a:custGeom>
            <a:avLst/>
            <a:gdLst/>
            <a:ahLst/>
            <a:cxnLst/>
            <a:rect r="r" b="b" t="t" l="l"/>
            <a:pathLst>
              <a:path h="3837087" w="7674174">
                <a:moveTo>
                  <a:pt x="0" y="3837087"/>
                </a:moveTo>
                <a:lnTo>
                  <a:pt x="7674174" y="3837087"/>
                </a:lnTo>
                <a:lnTo>
                  <a:pt x="7674174" y="0"/>
                </a:lnTo>
                <a:lnTo>
                  <a:pt x="0" y="0"/>
                </a:lnTo>
                <a:lnTo>
                  <a:pt x="0" y="383708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975622" y="1713388"/>
            <a:ext cx="6853883" cy="685388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75622" y="1834143"/>
            <a:ext cx="6486508" cy="6451538"/>
            <a:chOff x="0" y="0"/>
            <a:chExt cx="817206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7206" cy="812800"/>
            </a:xfrm>
            <a:custGeom>
              <a:avLst/>
              <a:gdLst/>
              <a:ahLst/>
              <a:cxnLst/>
              <a:rect r="r" b="b" t="t" l="l"/>
              <a:pathLst>
                <a:path h="812800" w="817206">
                  <a:moveTo>
                    <a:pt x="408603" y="0"/>
                  </a:moveTo>
                  <a:cubicBezTo>
                    <a:pt x="182938" y="0"/>
                    <a:pt x="0" y="181951"/>
                    <a:pt x="0" y="406400"/>
                  </a:cubicBezTo>
                  <a:cubicBezTo>
                    <a:pt x="0" y="630849"/>
                    <a:pt x="182938" y="812800"/>
                    <a:pt x="408603" y="812800"/>
                  </a:cubicBezTo>
                  <a:cubicBezTo>
                    <a:pt x="634268" y="812800"/>
                    <a:pt x="817206" y="630849"/>
                    <a:pt x="817206" y="406400"/>
                  </a:cubicBezTo>
                  <a:cubicBezTo>
                    <a:pt x="817206" y="181951"/>
                    <a:pt x="634268" y="0"/>
                    <a:pt x="408603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366" r="0" b="-1366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-458594" y="5993565"/>
            <a:ext cx="1519526" cy="3084508"/>
          </a:xfrm>
          <a:custGeom>
            <a:avLst/>
            <a:gdLst/>
            <a:ahLst/>
            <a:cxnLst/>
            <a:rect r="r" b="b" t="t" l="l"/>
            <a:pathLst>
              <a:path h="3084508" w="1519526">
                <a:moveTo>
                  <a:pt x="0" y="0"/>
                </a:moveTo>
                <a:lnTo>
                  <a:pt x="1519526" y="0"/>
                </a:lnTo>
                <a:lnTo>
                  <a:pt x="1519526" y="3084508"/>
                </a:lnTo>
                <a:lnTo>
                  <a:pt x="0" y="30845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6818832" y="0"/>
            <a:ext cx="2071591" cy="4205152"/>
          </a:xfrm>
          <a:custGeom>
            <a:avLst/>
            <a:gdLst/>
            <a:ahLst/>
            <a:cxnLst/>
            <a:rect r="r" b="b" t="t" l="l"/>
            <a:pathLst>
              <a:path h="4205152" w="2071591">
                <a:moveTo>
                  <a:pt x="2071591" y="0"/>
                </a:moveTo>
                <a:lnTo>
                  <a:pt x="0" y="0"/>
                </a:lnTo>
                <a:lnTo>
                  <a:pt x="0" y="4205152"/>
                </a:lnTo>
                <a:lnTo>
                  <a:pt x="2071591" y="4205152"/>
                </a:lnTo>
                <a:lnTo>
                  <a:pt x="2071591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60932" y="8585592"/>
            <a:ext cx="672708" cy="672708"/>
          </a:xfrm>
          <a:custGeom>
            <a:avLst/>
            <a:gdLst/>
            <a:ahLst/>
            <a:cxnLst/>
            <a:rect r="r" b="b" t="t" l="l"/>
            <a:pathLst>
              <a:path h="672708" w="672708">
                <a:moveTo>
                  <a:pt x="0" y="0"/>
                </a:moveTo>
                <a:lnTo>
                  <a:pt x="672709" y="0"/>
                </a:lnTo>
                <a:lnTo>
                  <a:pt x="672709" y="672708"/>
                </a:lnTo>
                <a:lnTo>
                  <a:pt x="0" y="6727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481992" y="-3498726"/>
            <a:ext cx="4793807" cy="4802539"/>
          </a:xfrm>
          <a:custGeom>
            <a:avLst/>
            <a:gdLst/>
            <a:ahLst/>
            <a:cxnLst/>
            <a:rect r="r" b="b" t="t" l="l"/>
            <a:pathLst>
              <a:path h="4802539" w="4793807">
                <a:moveTo>
                  <a:pt x="0" y="0"/>
                </a:moveTo>
                <a:lnTo>
                  <a:pt x="4793807" y="0"/>
                </a:lnTo>
                <a:lnTo>
                  <a:pt x="4793807" y="4802539"/>
                </a:lnTo>
                <a:lnTo>
                  <a:pt x="0" y="480253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108917" y="8366098"/>
            <a:ext cx="4940090" cy="4949088"/>
          </a:xfrm>
          <a:custGeom>
            <a:avLst/>
            <a:gdLst/>
            <a:ahLst/>
            <a:cxnLst/>
            <a:rect r="r" b="b" t="t" l="l"/>
            <a:pathLst>
              <a:path h="4949088" w="4940090">
                <a:moveTo>
                  <a:pt x="0" y="0"/>
                </a:moveTo>
                <a:lnTo>
                  <a:pt x="4940090" y="0"/>
                </a:lnTo>
                <a:lnTo>
                  <a:pt x="4940090" y="4949088"/>
                </a:lnTo>
                <a:lnTo>
                  <a:pt x="0" y="49490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496449" y="2218183"/>
            <a:ext cx="1647551" cy="200702"/>
          </a:xfrm>
          <a:custGeom>
            <a:avLst/>
            <a:gdLst/>
            <a:ahLst/>
            <a:cxnLst/>
            <a:rect r="r" b="b" t="t" l="l"/>
            <a:pathLst>
              <a:path h="200702" w="1647551">
                <a:moveTo>
                  <a:pt x="0" y="0"/>
                </a:moveTo>
                <a:lnTo>
                  <a:pt x="1647551" y="0"/>
                </a:lnTo>
                <a:lnTo>
                  <a:pt x="1647551" y="200701"/>
                </a:lnTo>
                <a:lnTo>
                  <a:pt x="0" y="20070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510649" y="8082370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-106388" r="-103152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4854775" y="5926686"/>
            <a:ext cx="5254433" cy="641311"/>
            <a:chOff x="0" y="0"/>
            <a:chExt cx="3329743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29743" cy="406400"/>
            </a:xfrm>
            <a:custGeom>
              <a:avLst/>
              <a:gdLst/>
              <a:ahLst/>
              <a:cxnLst/>
              <a:rect r="r" b="b" t="t" l="l"/>
              <a:pathLst>
                <a:path h="406400" w="3329743">
                  <a:moveTo>
                    <a:pt x="3126543" y="0"/>
                  </a:moveTo>
                  <a:cubicBezTo>
                    <a:pt x="3238767" y="0"/>
                    <a:pt x="3329743" y="90976"/>
                    <a:pt x="3329743" y="203200"/>
                  </a:cubicBezTo>
                  <a:cubicBezTo>
                    <a:pt x="3329743" y="315424"/>
                    <a:pt x="3238767" y="406400"/>
                    <a:pt x="312654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3329743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28700" y="3528169"/>
            <a:ext cx="6228661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50"/>
              </a:lnSpc>
            </a:pPr>
            <a:r>
              <a:rPr lang="en-US" b="true" sz="15000">
                <a:solidFill>
                  <a:srgbClr val="A94BC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Thank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5171814"/>
            <a:ext cx="3429263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50"/>
              </a:lnSpc>
            </a:pPr>
            <a:r>
              <a:rPr lang="en-US" sz="15000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You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028700" y="1053061"/>
            <a:ext cx="781082" cy="781082"/>
          </a:xfrm>
          <a:custGeom>
            <a:avLst/>
            <a:gdLst/>
            <a:ahLst/>
            <a:cxnLst/>
            <a:rect r="r" b="b" t="t" l="l"/>
            <a:pathLst>
              <a:path h="781082" w="781082">
                <a:moveTo>
                  <a:pt x="0" y="0"/>
                </a:moveTo>
                <a:lnTo>
                  <a:pt x="781082" y="0"/>
                </a:lnTo>
                <a:lnTo>
                  <a:pt x="781082" y="781082"/>
                </a:lnTo>
                <a:lnTo>
                  <a:pt x="0" y="78108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927008" y="1151063"/>
            <a:ext cx="2885638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Track Data Analysis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254214" y="5921636"/>
            <a:ext cx="4455554" cy="58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6"/>
              </a:lnSpc>
              <a:spcBef>
                <a:spcPct val="0"/>
              </a:spcBef>
            </a:pPr>
            <a:r>
              <a:rPr lang="en-US" sz="3454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For Your Attention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9279059" y="8121712"/>
            <a:ext cx="1730858" cy="3513494"/>
          </a:xfrm>
          <a:custGeom>
            <a:avLst/>
            <a:gdLst/>
            <a:ahLst/>
            <a:cxnLst/>
            <a:rect r="r" b="b" t="t" l="l"/>
            <a:pathLst>
              <a:path h="3513494" w="1730858">
                <a:moveTo>
                  <a:pt x="1730858" y="0"/>
                </a:moveTo>
                <a:lnTo>
                  <a:pt x="0" y="0"/>
                </a:lnTo>
                <a:lnTo>
                  <a:pt x="0" y="3513494"/>
                </a:lnTo>
                <a:lnTo>
                  <a:pt x="1730858" y="3513494"/>
                </a:lnTo>
                <a:lnTo>
                  <a:pt x="1730858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400000">
            <a:off x="-279147" y="-1633942"/>
            <a:ext cx="2490075" cy="5054639"/>
          </a:xfrm>
          <a:custGeom>
            <a:avLst/>
            <a:gdLst/>
            <a:ahLst/>
            <a:cxnLst/>
            <a:rect r="r" b="b" t="t" l="l"/>
            <a:pathLst>
              <a:path h="5054639" w="2490075">
                <a:moveTo>
                  <a:pt x="0" y="5054639"/>
                </a:moveTo>
                <a:lnTo>
                  <a:pt x="2490075" y="5054639"/>
                </a:lnTo>
                <a:lnTo>
                  <a:pt x="2490075" y="0"/>
                </a:lnTo>
                <a:lnTo>
                  <a:pt x="0" y="0"/>
                </a:lnTo>
                <a:lnTo>
                  <a:pt x="0" y="5054639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741083" y="1181100"/>
            <a:ext cx="6518217" cy="90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89"/>
              </a:lnSpc>
            </a:pPr>
            <a:r>
              <a:rPr lang="en-US" sz="69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Indiv</a:t>
            </a:r>
            <a:r>
              <a:rPr lang="en-US" sz="69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idual Work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800000">
            <a:off x="6168303" y="-2760652"/>
            <a:ext cx="4438877" cy="4446962"/>
          </a:xfrm>
          <a:custGeom>
            <a:avLst/>
            <a:gdLst/>
            <a:ahLst/>
            <a:cxnLst/>
            <a:rect r="r" b="b" t="t" l="l"/>
            <a:pathLst>
              <a:path h="4446962" w="4438877">
                <a:moveTo>
                  <a:pt x="0" y="0"/>
                </a:moveTo>
                <a:lnTo>
                  <a:pt x="4438877" y="0"/>
                </a:lnTo>
                <a:lnTo>
                  <a:pt x="4438877" y="4446962"/>
                </a:lnTo>
                <a:lnTo>
                  <a:pt x="0" y="44469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586817" y="1505055"/>
            <a:ext cx="9840650" cy="8573299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 rot="0">
            <a:off x="12481475" y="3011193"/>
            <a:ext cx="5451200" cy="1353312"/>
            <a:chOff x="0" y="0"/>
            <a:chExt cx="2780809" cy="6903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810" cy="690362"/>
            </a:xfrm>
            <a:custGeom>
              <a:avLst/>
              <a:gdLst/>
              <a:ahLst/>
              <a:cxnLst/>
              <a:rect r="r" b="b" t="t" l="l"/>
              <a:pathLst>
                <a:path h="690362" w="2780810">
                  <a:moveTo>
                    <a:pt x="2577610" y="0"/>
                  </a:moveTo>
                  <a:cubicBezTo>
                    <a:pt x="2689834" y="0"/>
                    <a:pt x="2780810" y="154543"/>
                    <a:pt x="2780810" y="345181"/>
                  </a:cubicBezTo>
                  <a:cubicBezTo>
                    <a:pt x="2780810" y="535819"/>
                    <a:pt x="2689834" y="690362"/>
                    <a:pt x="2577610" y="690362"/>
                  </a:cubicBezTo>
                  <a:lnTo>
                    <a:pt x="203200" y="690362"/>
                  </a:lnTo>
                  <a:cubicBezTo>
                    <a:pt x="90976" y="690362"/>
                    <a:pt x="0" y="535819"/>
                    <a:pt x="0" y="345181"/>
                  </a:cubicBezTo>
                  <a:cubicBezTo>
                    <a:pt x="0" y="154543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809" cy="74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Data cleaning (SQL Server)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EDR Diagram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Schema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0" y="4507201"/>
            <a:ext cx="4923587" cy="934212"/>
            <a:chOff x="0" y="0"/>
            <a:chExt cx="2511659" cy="4765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11659" cy="476568"/>
            </a:xfrm>
            <a:custGeom>
              <a:avLst/>
              <a:gdLst/>
              <a:ahLst/>
              <a:cxnLst/>
              <a:rect r="r" b="b" t="t" l="l"/>
              <a:pathLst>
                <a:path h="476568" w="2511659">
                  <a:moveTo>
                    <a:pt x="2308459" y="0"/>
                  </a:moveTo>
                  <a:cubicBezTo>
                    <a:pt x="2420684" y="0"/>
                    <a:pt x="2511659" y="106683"/>
                    <a:pt x="2511659" y="238284"/>
                  </a:cubicBezTo>
                  <a:cubicBezTo>
                    <a:pt x="2511659" y="369884"/>
                    <a:pt x="2420684" y="476568"/>
                    <a:pt x="2308459" y="476568"/>
                  </a:cubicBezTo>
                  <a:lnTo>
                    <a:pt x="203200" y="476568"/>
                  </a:lnTo>
                  <a:cubicBezTo>
                    <a:pt x="90976" y="476568"/>
                    <a:pt x="0" y="369884"/>
                    <a:pt x="0" y="238284"/>
                  </a:cubicBezTo>
                  <a:cubicBezTo>
                    <a:pt x="0" y="106683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511659" cy="533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Preprocessing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EDA (Python)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0" y="7074142"/>
            <a:ext cx="4856192" cy="934212"/>
            <a:chOff x="0" y="0"/>
            <a:chExt cx="2477279" cy="4765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77279" cy="476568"/>
            </a:xfrm>
            <a:custGeom>
              <a:avLst/>
              <a:gdLst/>
              <a:ahLst/>
              <a:cxnLst/>
              <a:rect r="r" b="b" t="t" l="l"/>
              <a:pathLst>
                <a:path h="476568" w="2477279">
                  <a:moveTo>
                    <a:pt x="2274079" y="0"/>
                  </a:moveTo>
                  <a:cubicBezTo>
                    <a:pt x="2386303" y="0"/>
                    <a:pt x="2477279" y="106683"/>
                    <a:pt x="2477279" y="238284"/>
                  </a:cubicBezTo>
                  <a:cubicBezTo>
                    <a:pt x="2477279" y="369884"/>
                    <a:pt x="2386303" y="476568"/>
                    <a:pt x="2274079" y="476568"/>
                  </a:cubicBezTo>
                  <a:lnTo>
                    <a:pt x="203200" y="476568"/>
                  </a:lnTo>
                  <a:cubicBezTo>
                    <a:pt x="90976" y="476568"/>
                    <a:pt x="0" y="369884"/>
                    <a:pt x="0" y="238284"/>
                  </a:cubicBezTo>
                  <a:cubicBezTo>
                    <a:pt x="0" y="106683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477279" cy="533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Model building by Orange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Model evaluation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481475" y="5791705"/>
            <a:ext cx="5451200" cy="934212"/>
            <a:chOff x="0" y="0"/>
            <a:chExt cx="2780809" cy="4765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80810" cy="476568"/>
            </a:xfrm>
            <a:custGeom>
              <a:avLst/>
              <a:gdLst/>
              <a:ahLst/>
              <a:cxnLst/>
              <a:rect r="r" b="b" t="t" l="l"/>
              <a:pathLst>
                <a:path h="476568" w="2780810">
                  <a:moveTo>
                    <a:pt x="2577610" y="0"/>
                  </a:moveTo>
                  <a:cubicBezTo>
                    <a:pt x="2689834" y="0"/>
                    <a:pt x="2780810" y="106683"/>
                    <a:pt x="2780810" y="238284"/>
                  </a:cubicBezTo>
                  <a:cubicBezTo>
                    <a:pt x="2780810" y="369884"/>
                    <a:pt x="2689834" y="476568"/>
                    <a:pt x="2577610" y="476568"/>
                  </a:cubicBezTo>
                  <a:lnTo>
                    <a:pt x="203200" y="476568"/>
                  </a:lnTo>
                  <a:cubicBezTo>
                    <a:pt x="90976" y="476568"/>
                    <a:pt x="0" y="369884"/>
                    <a:pt x="0" y="238284"/>
                  </a:cubicBezTo>
                  <a:cubicBezTo>
                    <a:pt x="0" y="106683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780809" cy="533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Power BI dashboard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Insights extraction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-2454844">
            <a:off x="8436702" y="8833559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0" y="0"/>
                </a:moveTo>
                <a:lnTo>
                  <a:pt x="20299771" y="0"/>
                </a:lnTo>
                <a:lnTo>
                  <a:pt x="20299771" y="6754288"/>
                </a:lnTo>
                <a:lnTo>
                  <a:pt x="0" y="67542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2481475" y="8356580"/>
            <a:ext cx="5451200" cy="1353312"/>
            <a:chOff x="0" y="0"/>
            <a:chExt cx="2780809" cy="69036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80810" cy="690362"/>
            </a:xfrm>
            <a:custGeom>
              <a:avLst/>
              <a:gdLst/>
              <a:ahLst/>
              <a:cxnLst/>
              <a:rect r="r" b="b" t="t" l="l"/>
              <a:pathLst>
                <a:path h="690362" w="2780810">
                  <a:moveTo>
                    <a:pt x="2577610" y="0"/>
                  </a:moveTo>
                  <a:cubicBezTo>
                    <a:pt x="2689834" y="0"/>
                    <a:pt x="2780810" y="154543"/>
                    <a:pt x="2780810" y="345181"/>
                  </a:cubicBezTo>
                  <a:cubicBezTo>
                    <a:pt x="2780810" y="535819"/>
                    <a:pt x="2689834" y="690362"/>
                    <a:pt x="2577610" y="690362"/>
                  </a:cubicBezTo>
                  <a:lnTo>
                    <a:pt x="203200" y="690362"/>
                  </a:lnTo>
                  <a:cubicBezTo>
                    <a:pt x="90976" y="690362"/>
                    <a:pt x="0" y="535819"/>
                    <a:pt x="0" y="345181"/>
                  </a:cubicBezTo>
                  <a:cubicBezTo>
                    <a:pt x="0" y="154543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2780809" cy="74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Report writing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Slides design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Presentation preparation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DAHDe8cuJZw</dc:identifier>
  <dcterms:modified xsi:type="dcterms:W3CDTF">2011-08-01T06:04:30Z</dcterms:modified>
  <cp:revision>1</cp:revision>
  <dc:title>Navy Pink And Purple Modern Professional Artificial Intelligence Presentation</dc:title>
</cp:coreProperties>
</file>